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</p:sldIdLst>
  <p:sldSz cx="1218882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8456797487-1"/>
          <p:cNvSpPr/>
          <p:nvPr/>
        </p:nvSpPr>
        <p:spPr>
          <a:xfrm>
            <a:off x="0" y="857"/>
            <a:ext cx="123794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8456797491-2"/>
          <p:cNvCxnSpPr/>
          <p:nvPr/>
        </p:nvCxnSpPr>
        <p:spPr>
          <a:xfrm>
            <a:off x="809423" y="3801424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8456797494-4"/>
          <p:cNvSpPr txBox="1"/>
          <p:nvPr/>
        </p:nvSpPr>
        <p:spPr>
          <a:xfrm>
            <a:off x="809423" y="2063546"/>
            <a:ext cx="10712946" cy="14855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5835"/>
              </a:lnSpc>
            </a:pPr>
            <a:r>
              <a:rPr sz="4490" b="1">
                <a:solidFill>
                  <a:srgbClr val="FFFFFF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 语言开发环境</a:t>
            </a:r>
            <a:r>
              <a:rPr sz="4490" b="1">
                <a:solidFill>
                  <a:srgbClr val="FFFFFF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  <a:sym typeface="+mn-ea"/>
              </a:rPr>
              <a:t>搭建</a:t>
            </a:r>
            <a:r>
              <a:rPr lang="zh-CN" altLang="en-US" sz="4490" b="1">
                <a:solidFill>
                  <a:srgbClr val="FFFFFF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  <a:sym typeface="+mn-ea"/>
              </a:rPr>
              <a:t>方法</a:t>
            </a:r>
            <a:endParaRPr lang="zh-CN" altLang="en-US" sz="4490" b="1">
              <a:solidFill>
                <a:srgbClr val="FFFFFF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  <a:sym typeface="+mn-ea"/>
            </a:endParaRPr>
          </a:p>
        </p:txBody>
      </p:sp>
      <p:sp>
        <p:nvSpPr>
          <p:cNvPr id="6" name="el-1788456797494-5"/>
          <p:cNvSpPr txBox="1"/>
          <p:nvPr/>
        </p:nvSpPr>
        <p:spPr>
          <a:xfrm>
            <a:off x="809423" y="3996637"/>
            <a:ext cx="10824551" cy="4265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>
                <a:solidFill>
                  <a:srgbClr val="FFFFFF">
                    <a:alpha val="72000"/>
                  </a:srgbClr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VSCode + TDM-GCC：亲手点亮「编辑 → 编译 → 链接 → 运行」流水线</a:t>
            </a:r>
            <a:endParaRPr sz="2090">
              <a:solidFill>
                <a:srgbClr val="FFFFFF">
                  <a:alpha val="72000"/>
                </a:srgbClr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7" name="el-1788456797495-6"/>
          <p:cNvSpPr txBox="1"/>
          <p:nvPr/>
        </p:nvSpPr>
        <p:spPr>
          <a:xfrm>
            <a:off x="809423" y="4975533"/>
            <a:ext cx="11162414" cy="3237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>
                <a:solidFill>
                  <a:srgbClr val="FFFFFF">
                    <a:alpha val="60000"/>
                  </a:srgbClr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杭州电子科技大学 </a:t>
            </a:r>
            <a:r>
              <a:rPr lang="zh-CN" altLang="en-US" sz="1490">
                <a:solidFill>
                  <a:srgbClr val="FFFFFF">
                    <a:alpha val="60000"/>
                  </a:srgbClr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曾毓</a:t>
            </a:r>
            <a:r>
              <a:rPr sz="1490">
                <a:solidFill>
                  <a:srgbClr val="FFFFFF">
                    <a:alpha val="60000"/>
                  </a:srgbClr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｜ C语言程序设计（甲）· 第01次课配套实践</a:t>
            </a:r>
            <a:endParaRPr sz="1490">
              <a:solidFill>
                <a:srgbClr val="FFFFFF">
                  <a:alpha val="60000"/>
                </a:srgbClr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88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7510-2"/>
          <p:cNvCxnSpPr/>
          <p:nvPr/>
        </p:nvCxnSpPr>
        <p:spPr>
          <a:xfrm>
            <a:off x="608813" y="125608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8456797514-9"/>
          <p:cNvCxnSpPr/>
          <p:nvPr>
            <p:custDataLst>
              <p:tags r:id="rId1"/>
            </p:custDataLst>
          </p:nvPr>
        </p:nvCxnSpPr>
        <p:spPr>
          <a:xfrm>
            <a:off x="609448" y="3010005"/>
            <a:ext cx="10970057" cy="914"/>
          </a:xfrm>
          <a:prstGeom prst="line">
            <a:avLst/>
          </a:prstGeom>
          <a:ln w="9523" cap="flat">
            <a:solidFill>
              <a:srgbClr val="C9D4E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8456797514-10"/>
          <p:cNvCxnSpPr/>
          <p:nvPr>
            <p:custDataLst>
              <p:tags r:id="rId2"/>
            </p:custDataLst>
          </p:nvPr>
        </p:nvCxnSpPr>
        <p:spPr>
          <a:xfrm>
            <a:off x="609448" y="3952744"/>
            <a:ext cx="10970057" cy="914"/>
          </a:xfrm>
          <a:prstGeom prst="line">
            <a:avLst/>
          </a:prstGeom>
          <a:ln w="9523" cap="flat">
            <a:solidFill>
              <a:srgbClr val="C9D4E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8456797514-11"/>
          <p:cNvCxnSpPr/>
          <p:nvPr>
            <p:custDataLst>
              <p:tags r:id="rId3"/>
            </p:custDataLst>
          </p:nvPr>
        </p:nvCxnSpPr>
        <p:spPr>
          <a:xfrm>
            <a:off x="609448" y="4895483"/>
            <a:ext cx="10970057" cy="914"/>
          </a:xfrm>
          <a:prstGeom prst="line">
            <a:avLst/>
          </a:prstGeom>
          <a:ln w="9523" cap="flat">
            <a:solidFill>
              <a:srgbClr val="C9D4E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8456797511-3"/>
          <p:cNvSpPr txBox="1"/>
          <p:nvPr/>
        </p:nvSpPr>
        <p:spPr>
          <a:xfrm>
            <a:off x="609448" y="26068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0" name="el-1788456797511-4"/>
          <p:cNvSpPr txBox="1"/>
          <p:nvPr/>
        </p:nvSpPr>
        <p:spPr>
          <a:xfrm>
            <a:off x="608330" y="621030"/>
            <a:ext cx="10983595" cy="5505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3825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学完本讲，你将拥有一套</a:t>
            </a:r>
            <a:r>
              <a:rPr lang="zh-CN" altLang="en-US"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简洁、现代化的</a:t>
            </a:r>
            <a:r>
              <a:rPr lang="en-US" altLang="zh-CN"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</a:t>
            </a:r>
            <a:r>
              <a:rPr lang="zh-CN" altLang="en-US"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语言</a:t>
            </a: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开发环境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1" name="el-1788456797517-13"/>
          <p:cNvSpPr txBox="1"/>
          <p:nvPr>
            <p:custDataLst>
              <p:tags r:id="rId4"/>
            </p:custDataLst>
          </p:nvPr>
        </p:nvSpPr>
        <p:spPr>
          <a:xfrm>
            <a:off x="609448" y="2357705"/>
            <a:ext cx="916076" cy="4189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01</a:t>
            </a:r>
            <a:endParaRPr sz="224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7517-14"/>
          <p:cNvSpPr txBox="1"/>
          <p:nvPr>
            <p:custDataLst>
              <p:tags r:id="rId5"/>
            </p:custDataLst>
          </p:nvPr>
        </p:nvSpPr>
        <p:spPr>
          <a:xfrm>
            <a:off x="1371257" y="2405318"/>
            <a:ext cx="2154165" cy="3523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能独立安装并配置</a:t>
            </a:r>
            <a:endParaRPr sz="1940" b="1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3" name="el-1788456797517-12"/>
          <p:cNvSpPr txBox="1"/>
          <p:nvPr>
            <p:custDataLst>
              <p:tags r:id="rId6"/>
            </p:custDataLst>
          </p:nvPr>
        </p:nvSpPr>
        <p:spPr>
          <a:xfrm>
            <a:off x="3580653" y="2433886"/>
            <a:ext cx="6333934" cy="323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VSCode + TDM-GCC，用 </a:t>
            </a: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gcc -v</a:t>
            </a:r>
            <a:r>
              <a:rPr sz="172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验证安装成功</a:t>
            </a:r>
            <a:endParaRPr sz="172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4" name="el-1788456797518-15"/>
          <p:cNvSpPr txBox="1"/>
          <p:nvPr>
            <p:custDataLst>
              <p:tags r:id="rId7"/>
            </p:custDataLst>
          </p:nvPr>
        </p:nvSpPr>
        <p:spPr>
          <a:xfrm>
            <a:off x="609448" y="3300445"/>
            <a:ext cx="916076" cy="4189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02</a:t>
            </a:r>
            <a:endParaRPr sz="224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5" name="el-1788456797518-16"/>
          <p:cNvSpPr txBox="1"/>
          <p:nvPr>
            <p:custDataLst>
              <p:tags r:id="rId8"/>
            </p:custDataLst>
          </p:nvPr>
        </p:nvSpPr>
        <p:spPr>
          <a:xfrm>
            <a:off x="1371257" y="3348058"/>
            <a:ext cx="2154165" cy="3523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能创建项目并运行</a:t>
            </a:r>
            <a:endParaRPr sz="1940" b="1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6" name="el-1788456797518-17"/>
          <p:cNvSpPr txBox="1"/>
          <p:nvPr>
            <p:custDataLst>
              <p:tags r:id="rId9"/>
            </p:custDataLst>
          </p:nvPr>
        </p:nvSpPr>
        <p:spPr>
          <a:xfrm>
            <a:off x="3580653" y="3376626"/>
            <a:ext cx="5767261" cy="323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在 VSCode 中创建项目、编写并运行第一个 C 程序</a:t>
            </a:r>
            <a:endParaRPr sz="172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7" name="el-1788456797518-18"/>
          <p:cNvSpPr txBox="1"/>
          <p:nvPr>
            <p:custDataLst>
              <p:tags r:id="rId10"/>
            </p:custDataLst>
          </p:nvPr>
        </p:nvSpPr>
        <p:spPr>
          <a:xfrm>
            <a:off x="609448" y="4243184"/>
            <a:ext cx="916076" cy="4189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03</a:t>
            </a:r>
            <a:endParaRPr sz="224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8" name="el-1788456797518-19"/>
          <p:cNvSpPr txBox="1"/>
          <p:nvPr>
            <p:custDataLst>
              <p:tags r:id="rId11"/>
            </p:custDataLst>
          </p:nvPr>
        </p:nvSpPr>
        <p:spPr>
          <a:xfrm>
            <a:off x="1371257" y="4290797"/>
            <a:ext cx="3073455" cy="3523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能说出 IDE 背后的命令</a:t>
            </a:r>
            <a:endParaRPr sz="1940" b="1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9" name="el-1788456797519-20"/>
          <p:cNvSpPr txBox="1"/>
          <p:nvPr>
            <p:custDataLst>
              <p:tags r:id="rId12"/>
            </p:custDataLst>
          </p:nvPr>
        </p:nvSpPr>
        <p:spPr>
          <a:xfrm>
            <a:off x="4103802" y="4319365"/>
            <a:ext cx="5190779" cy="323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「一键运行」实际执行了什么，会用命令行手动编译</a:t>
            </a:r>
            <a:endParaRPr sz="172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0" name="el-1788456797519-21"/>
          <p:cNvSpPr txBox="1"/>
          <p:nvPr>
            <p:custDataLst>
              <p:tags r:id="rId13"/>
            </p:custDataLst>
          </p:nvPr>
        </p:nvSpPr>
        <p:spPr>
          <a:xfrm>
            <a:off x="609448" y="5185923"/>
            <a:ext cx="916076" cy="4189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04</a:t>
            </a:r>
            <a:endParaRPr sz="224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1" name="el-1788456797519-22"/>
          <p:cNvSpPr txBox="1"/>
          <p:nvPr>
            <p:custDataLst>
              <p:tags r:id="rId14"/>
            </p:custDataLst>
          </p:nvPr>
        </p:nvSpPr>
        <p:spPr>
          <a:xfrm>
            <a:off x="1371257" y="5233536"/>
            <a:ext cx="1411401" cy="3523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能独立排雷</a:t>
            </a:r>
            <a:endParaRPr sz="1940" b="1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2" name="el-1788456797520-23"/>
          <p:cNvSpPr txBox="1"/>
          <p:nvPr>
            <p:custDataLst>
              <p:tags r:id="rId15"/>
            </p:custDataLst>
          </p:nvPr>
        </p:nvSpPr>
        <p:spPr>
          <a:xfrm>
            <a:off x="2837889" y="5262104"/>
            <a:ext cx="6638402" cy="323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程序被杀毒软件误删、报错等典型环境问题知道怎么处理</a:t>
            </a:r>
            <a:endParaRPr sz="172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3" name="el-1788456797512-5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4" name="el-1788456797512-6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02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4" grpId="0"/>
      <p:bldP spid="5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7530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8456797532-9"/>
          <p:cNvCxnSpPr/>
          <p:nvPr/>
        </p:nvCxnSpPr>
        <p:spPr>
          <a:xfrm>
            <a:off x="609448" y="3010005"/>
            <a:ext cx="10970057" cy="914"/>
          </a:xfrm>
          <a:prstGeom prst="line">
            <a:avLst/>
          </a:prstGeom>
          <a:ln w="9523" cap="flat">
            <a:solidFill>
              <a:srgbClr val="C9D4E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8456797533-10"/>
          <p:cNvCxnSpPr/>
          <p:nvPr/>
        </p:nvCxnSpPr>
        <p:spPr>
          <a:xfrm>
            <a:off x="609448" y="3952744"/>
            <a:ext cx="10970057" cy="914"/>
          </a:xfrm>
          <a:prstGeom prst="line">
            <a:avLst/>
          </a:prstGeom>
          <a:ln w="9523" cap="flat">
            <a:solidFill>
              <a:srgbClr val="C9D4E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8456797533-11"/>
          <p:cNvCxnSpPr/>
          <p:nvPr/>
        </p:nvCxnSpPr>
        <p:spPr>
          <a:xfrm>
            <a:off x="609448" y="4895483"/>
            <a:ext cx="10970057" cy="914"/>
          </a:xfrm>
          <a:prstGeom prst="line">
            <a:avLst/>
          </a:prstGeom>
          <a:ln w="9523" cap="flat">
            <a:solidFill>
              <a:srgbClr val="C9D4E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8456797530-3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0" name="el-1788456797530-4"/>
          <p:cNvSpPr txBox="1"/>
          <p:nvPr/>
        </p:nvSpPr>
        <p:spPr>
          <a:xfrm>
            <a:off x="609448" y="633219"/>
            <a:ext cx="11236690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四步搭好环境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1" name="el-1788456797536-15"/>
          <p:cNvSpPr txBox="1"/>
          <p:nvPr/>
        </p:nvSpPr>
        <p:spPr>
          <a:xfrm>
            <a:off x="609448" y="2357705"/>
            <a:ext cx="916076" cy="4189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01</a:t>
            </a:r>
            <a:endParaRPr sz="224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7536-16"/>
          <p:cNvSpPr txBox="1"/>
          <p:nvPr/>
        </p:nvSpPr>
        <p:spPr>
          <a:xfrm>
            <a:off x="1371257" y="2395796"/>
            <a:ext cx="1465531" cy="371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02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安装编译器</a:t>
            </a:r>
            <a:endParaRPr sz="2020" b="1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3" name="el-1788456797534-12"/>
          <p:cNvSpPr txBox="1"/>
          <p:nvPr/>
        </p:nvSpPr>
        <p:spPr>
          <a:xfrm>
            <a:off x="2885353" y="2433886"/>
            <a:ext cx="3612150" cy="323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TDM-GCC</a:t>
            </a:r>
            <a:r>
              <a:rPr sz="172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：下载、安装、验证</a:t>
            </a:r>
            <a:endParaRPr sz="172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4" name="el-1788456797536-17"/>
          <p:cNvSpPr txBox="1"/>
          <p:nvPr/>
        </p:nvSpPr>
        <p:spPr>
          <a:xfrm>
            <a:off x="609448" y="3300445"/>
            <a:ext cx="916076" cy="4189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02</a:t>
            </a:r>
            <a:endParaRPr sz="224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5" name="el-1788456797536-18"/>
          <p:cNvSpPr txBox="1"/>
          <p:nvPr/>
        </p:nvSpPr>
        <p:spPr>
          <a:xfrm>
            <a:off x="1371257" y="3338535"/>
            <a:ext cx="1465531" cy="371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02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安装编辑器</a:t>
            </a:r>
            <a:endParaRPr sz="2020" b="1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6" name="el-1788456797535-13"/>
          <p:cNvSpPr txBox="1"/>
          <p:nvPr/>
        </p:nvSpPr>
        <p:spPr>
          <a:xfrm>
            <a:off x="2885353" y="3376626"/>
            <a:ext cx="4439457" cy="323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VSCode</a:t>
            </a:r>
            <a:r>
              <a:rPr sz="172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：安装、汉化、C/C++ 扩展</a:t>
            </a:r>
            <a:endParaRPr sz="172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7" name="el-1788456797537-19"/>
          <p:cNvSpPr txBox="1"/>
          <p:nvPr/>
        </p:nvSpPr>
        <p:spPr>
          <a:xfrm>
            <a:off x="609448" y="4243184"/>
            <a:ext cx="916076" cy="4189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03</a:t>
            </a:r>
            <a:endParaRPr sz="224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8" name="el-1788456797537-20"/>
          <p:cNvSpPr txBox="1"/>
          <p:nvPr/>
        </p:nvSpPr>
        <p:spPr>
          <a:xfrm>
            <a:off x="1371257" y="4281274"/>
            <a:ext cx="1979752" cy="371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02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跑通第一个程序</a:t>
            </a:r>
            <a:endParaRPr sz="2020" b="1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9" name="el-1788456797536-14"/>
          <p:cNvSpPr txBox="1"/>
          <p:nvPr/>
        </p:nvSpPr>
        <p:spPr>
          <a:xfrm>
            <a:off x="3399575" y="4319365"/>
            <a:ext cx="4346373" cy="323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从 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hello.c</a:t>
            </a:r>
            <a:r>
              <a:rPr sz="172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到 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Hello World!</a:t>
            </a:r>
            <a:endParaRPr sz="172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0" name="el-1788456797537-21"/>
          <p:cNvSpPr txBox="1"/>
          <p:nvPr/>
        </p:nvSpPr>
        <p:spPr>
          <a:xfrm>
            <a:off x="609448" y="5185923"/>
            <a:ext cx="916076" cy="4189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04</a:t>
            </a:r>
            <a:endParaRPr sz="224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1" name="el-1788456797537-22"/>
          <p:cNvSpPr txBox="1"/>
          <p:nvPr/>
        </p:nvSpPr>
        <p:spPr>
          <a:xfrm>
            <a:off x="1371257" y="5224014"/>
            <a:ext cx="1208420" cy="371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02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排雷指南</a:t>
            </a:r>
            <a:endParaRPr sz="2020" b="1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2" name="el-1788456797538-23"/>
          <p:cNvSpPr txBox="1"/>
          <p:nvPr/>
        </p:nvSpPr>
        <p:spPr>
          <a:xfrm>
            <a:off x="2628243" y="5262104"/>
            <a:ext cx="4230411" cy="3237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杀毒软件误删、scanf / gets 报错</a:t>
            </a:r>
            <a:endParaRPr sz="172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3" name="el-1788456797531-5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4" name="el-1788456797531-6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03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7688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8456797703-25"/>
          <p:cNvSpPr/>
          <p:nvPr/>
        </p:nvSpPr>
        <p:spPr>
          <a:xfrm>
            <a:off x="609448" y="2551431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8456797703-26"/>
          <p:cNvSpPr/>
          <p:nvPr/>
        </p:nvSpPr>
        <p:spPr>
          <a:xfrm>
            <a:off x="609448" y="3507264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8456797703-27"/>
          <p:cNvSpPr/>
          <p:nvPr/>
        </p:nvSpPr>
        <p:spPr>
          <a:xfrm>
            <a:off x="609448" y="4463097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8456797704-28"/>
          <p:cNvSpPr/>
          <p:nvPr/>
        </p:nvSpPr>
        <p:spPr>
          <a:xfrm>
            <a:off x="609448" y="5418930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8456797692-11"/>
          <p:cNvCxnSpPr/>
          <p:nvPr/>
        </p:nvCxnSpPr>
        <p:spPr>
          <a:xfrm>
            <a:off x="6974723" y="5304956"/>
            <a:ext cx="4604781" cy="914"/>
          </a:xfrm>
          <a:prstGeom prst="line">
            <a:avLst/>
          </a:prstGeom>
          <a:ln w="9523" cap="flat">
            <a:solidFill>
              <a:srgbClr val="C9D4E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8456797688-3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7689-4"/>
          <p:cNvSpPr txBox="1"/>
          <p:nvPr/>
        </p:nvSpPr>
        <p:spPr>
          <a:xfrm>
            <a:off x="609600" y="633095"/>
            <a:ext cx="10968990" cy="487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自己搭一次看清</a:t>
            </a: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  <a:sym typeface="+mn-ea"/>
              </a:rPr>
              <a:t>IDE</a:t>
            </a: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全过程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3" name="el-1788456797697-13"/>
          <p:cNvSpPr txBox="1"/>
          <p:nvPr/>
        </p:nvSpPr>
        <p:spPr>
          <a:xfrm>
            <a:off x="857036" y="2370501"/>
            <a:ext cx="5508240" cy="7082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775"/>
              </a:lnSpc>
            </a:pP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Dev-C++ / Code::Blocks 开箱即用，但「编辑 → 编译 → 链接 → 运行」被封装成</a:t>
            </a:r>
            <a:r>
              <a:rPr sz="17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一个按钮</a:t>
            </a:r>
            <a:endParaRPr sz="17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4" name="el-1788456797697-14"/>
          <p:cNvSpPr txBox="1"/>
          <p:nvPr/>
        </p:nvSpPr>
        <p:spPr>
          <a:xfrm>
            <a:off x="857036" y="3326334"/>
            <a:ext cx="5508240" cy="7082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775"/>
              </a:lnSpc>
            </a:pP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自己搭环境 = 把流水线的</a:t>
            </a:r>
            <a:r>
              <a:rPr sz="17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每一环亲手接起来</a:t>
            </a: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，第01讲的理论落到实处</a:t>
            </a:r>
            <a:endParaRPr sz="179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5" name="el-1788456797698-15"/>
          <p:cNvSpPr txBox="1"/>
          <p:nvPr/>
        </p:nvSpPr>
        <p:spPr>
          <a:xfrm>
            <a:off x="857036" y="4282167"/>
            <a:ext cx="5508240" cy="7082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775"/>
              </a:lnSpc>
            </a:pP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搭好的环境，以后学</a:t>
            </a:r>
            <a:r>
              <a:rPr sz="17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数据结构</a:t>
            </a: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、写</a:t>
            </a:r>
            <a:r>
              <a:rPr sz="17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大作业</a:t>
            </a: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、做项目都能继续用</a:t>
            </a:r>
            <a:endParaRPr sz="179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6" name="el-1788456797698-16"/>
          <p:cNvSpPr txBox="1"/>
          <p:nvPr/>
        </p:nvSpPr>
        <p:spPr>
          <a:xfrm>
            <a:off x="857036" y="5238000"/>
            <a:ext cx="5654626" cy="3541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VSCode 是目前</a:t>
            </a:r>
            <a:r>
              <a:rPr sz="17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工业界主流编辑器</a:t>
            </a: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，早接触早受益</a:t>
            </a:r>
            <a:endParaRPr sz="179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7" name="el-1788456797692-10"/>
          <p:cNvSpPr txBox="1"/>
          <p:nvPr/>
        </p:nvSpPr>
        <p:spPr>
          <a:xfrm>
            <a:off x="6974723" y="2186298"/>
            <a:ext cx="5042822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75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第01讲 · 程序的诞生流水线</a:t>
            </a:r>
            <a:endParaRPr sz="1490" b="1" spc="75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8" name="el-1788456797692-9"/>
          <p:cNvSpPr txBox="1"/>
          <p:nvPr/>
        </p:nvSpPr>
        <p:spPr>
          <a:xfrm>
            <a:off x="6974723" y="5481124"/>
            <a:ext cx="4981877" cy="29520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IDE 把四步封装成一个按钮；本讲把它</a:t>
            </a:r>
            <a:r>
              <a:rPr sz="1490" b="1">
                <a:solidFill>
                  <a:srgbClr val="B44B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逐一拆开</a:t>
            </a:r>
            <a:r>
              <a:rPr sz="149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看清楚</a:t>
            </a:r>
            <a:endParaRPr sz="149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9" name="el-1788456797689-5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0" name="el-1788456797689-6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04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1" name="el-1788456797695-12"/>
          <p:cNvSpPr/>
          <p:nvPr/>
        </p:nvSpPr>
        <p:spPr>
          <a:xfrm>
            <a:off x="7022336" y="2767178"/>
            <a:ext cx="19045" cy="21521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9D4E2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8456797701-21"/>
          <p:cNvSpPr/>
          <p:nvPr/>
        </p:nvSpPr>
        <p:spPr>
          <a:xfrm>
            <a:off x="6974723" y="2729088"/>
            <a:ext cx="114271" cy="11427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8456797701-22"/>
          <p:cNvSpPr/>
          <p:nvPr/>
        </p:nvSpPr>
        <p:spPr>
          <a:xfrm>
            <a:off x="6974723" y="3405193"/>
            <a:ext cx="114271" cy="11427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8456797701-23"/>
          <p:cNvSpPr/>
          <p:nvPr/>
        </p:nvSpPr>
        <p:spPr>
          <a:xfrm>
            <a:off x="6974723" y="4081299"/>
            <a:ext cx="114271" cy="11427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-1788456797702-24"/>
          <p:cNvSpPr/>
          <p:nvPr/>
        </p:nvSpPr>
        <p:spPr>
          <a:xfrm>
            <a:off x="6974723" y="4757405"/>
            <a:ext cx="114271" cy="11427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8456797699-17"/>
          <p:cNvSpPr txBox="1"/>
          <p:nvPr/>
        </p:nvSpPr>
        <p:spPr>
          <a:xfrm>
            <a:off x="7222311" y="2652907"/>
            <a:ext cx="4966641" cy="352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编辑</a:t>
            </a:r>
            <a:r>
              <a:rPr sz="1115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  </a:t>
            </a:r>
            <a:r>
              <a:rPr sz="149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写出源代码 hello.c</a:t>
            </a:r>
            <a:endParaRPr sz="149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7" name="el-1788456797699-18"/>
          <p:cNvSpPr txBox="1"/>
          <p:nvPr/>
        </p:nvSpPr>
        <p:spPr>
          <a:xfrm>
            <a:off x="7222311" y="3329013"/>
            <a:ext cx="4768189" cy="352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编译</a:t>
            </a:r>
            <a:r>
              <a:rPr sz="1115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  </a:t>
            </a:r>
            <a:r>
              <a:rPr sz="149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翻译成汇编 / 机器码</a:t>
            </a:r>
            <a:endParaRPr sz="149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8" name="el-1788456797699-19"/>
          <p:cNvSpPr txBox="1"/>
          <p:nvPr/>
        </p:nvSpPr>
        <p:spPr>
          <a:xfrm>
            <a:off x="7222311" y="4005118"/>
            <a:ext cx="4966641" cy="352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链接</a:t>
            </a:r>
            <a:r>
              <a:rPr sz="1115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  </a:t>
            </a:r>
            <a:r>
              <a:rPr sz="149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拼装成 hello.exe</a:t>
            </a:r>
            <a:endParaRPr sz="149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9" name="el-1788456797700-20"/>
          <p:cNvSpPr txBox="1"/>
          <p:nvPr/>
        </p:nvSpPr>
        <p:spPr>
          <a:xfrm>
            <a:off x="7222311" y="4681224"/>
            <a:ext cx="4530505" cy="352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运行</a:t>
            </a:r>
            <a:r>
              <a:rPr sz="1115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  </a:t>
            </a:r>
            <a:r>
              <a:rPr sz="149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交给系统执行</a:t>
            </a:r>
            <a:endParaRPr sz="149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7719-15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8456797719-14"/>
          <p:cNvGraphicFramePr/>
          <p:nvPr/>
        </p:nvGraphicFramePr>
        <p:xfrm>
          <a:off x="609448" y="1957755"/>
          <a:ext cx="10970058" cy="28377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09298"/>
                <a:gridCol w="5332667"/>
                <a:gridCol w="3828093"/>
              </a:tblGrid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 b="1">
                          <a:solidFill>
                            <a:srgbClr val="FFFFFF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工具</a:t>
                      </a:r>
                      <a:endParaRPr sz="1790" b="1">
                        <a:solidFill>
                          <a:srgbClr val="FFFFFF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52362" marB="152362" anchor="ctr">
                    <a:solidFill>
                      <a:srgbClr val="1B3A6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 b="1">
                          <a:solidFill>
                            <a:srgbClr val="FFFFFF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角色</a:t>
                      </a:r>
                      <a:endParaRPr sz="1790" b="1">
                        <a:solidFill>
                          <a:srgbClr val="FFFFFF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52362" marB="152362" anchor="ctr">
                    <a:solidFill>
                      <a:srgbClr val="1B3A6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 b="1">
                          <a:solidFill>
                            <a:srgbClr val="FFFFFF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类比</a:t>
                      </a:r>
                      <a:endParaRPr sz="1790" b="1">
                        <a:solidFill>
                          <a:srgbClr val="FFFFFF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52362" marB="152362" anchor="ctr">
                    <a:solidFill>
                      <a:srgbClr val="1B3A6B"/>
                    </a:solidFill>
                  </a:tcPr>
                </a:tc>
              </a:tr>
              <a:tr h="72848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 b="1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VSCode</a:t>
                      </a:r>
                      <a:endParaRPr sz="1790" b="1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编辑器：写代码、看代码</a:t>
                      </a:r>
                      <a:endParaRPr sz="1790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纸和笔</a:t>
                      </a:r>
                      <a:endParaRPr sz="1790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</a:tr>
              <a:tr h="733242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 b="1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TDM-GCC</a:t>
                      </a:r>
                      <a:endParaRPr sz="1790" b="1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编译器：把 C 代码翻译成机器码</a:t>
                      </a:r>
                      <a:endParaRPr sz="1790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翻译官</a:t>
                      </a:r>
                      <a:endParaRPr sz="1790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</a:tr>
              <a:tr h="733242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 b="1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两者配合</a:t>
                      </a:r>
                      <a:endParaRPr sz="1790" b="1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VSCode 调用 gcc，完成「一键运行」</a:t>
                      </a:r>
                      <a:endParaRPr sz="1790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作家 + 翻译</a:t>
                      </a:r>
                      <a:endParaRPr sz="1790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4" name="el-1788456797721-22"/>
          <p:cNvCxnSpPr/>
          <p:nvPr/>
        </p:nvCxnSpPr>
        <p:spPr>
          <a:xfrm>
            <a:off x="633254" y="5176401"/>
            <a:ext cx="914" cy="828468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8456797720-16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9" name="el-1788456797720-17"/>
          <p:cNvSpPr txBox="1"/>
          <p:nvPr/>
        </p:nvSpPr>
        <p:spPr>
          <a:xfrm>
            <a:off x="609448" y="633219"/>
            <a:ext cx="11579504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VSCode 只是「高级记事本」，真正干活的是编译器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0" name="el-1788456797722-23"/>
          <p:cNvSpPr txBox="1"/>
          <p:nvPr/>
        </p:nvSpPr>
        <p:spPr>
          <a:xfrm>
            <a:off x="885604" y="5233536"/>
            <a:ext cx="10693901" cy="7141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805"/>
              </a:lnSpc>
            </a:pPr>
            <a:r>
              <a:rPr sz="187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关键认知：</a:t>
            </a:r>
            <a:r>
              <a:rPr sz="1870" b="1">
                <a:solidFill>
                  <a:srgbClr val="B44B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VSCode 本身不会编译 C 程序</a:t>
            </a:r>
            <a:r>
              <a:rPr sz="187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——装了扩展、配好编译器，才有「一键运行」</a:t>
            </a:r>
            <a:endParaRPr sz="187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  <a:p>
            <a:pPr algn="l">
              <a:lnSpc>
                <a:spcPts val="2805"/>
              </a:lnSpc>
            </a:pPr>
            <a:r>
              <a:rPr sz="187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IDE = 工具集合</a:t>
            </a:r>
            <a:endParaRPr sz="187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1" name="el-1788456797720-18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7720-19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05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7729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8456797761-15"/>
          <p:cNvSpPr/>
          <p:nvPr/>
        </p:nvSpPr>
        <p:spPr>
          <a:xfrm>
            <a:off x="609448" y="2889484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8456797761-16"/>
          <p:cNvSpPr/>
          <p:nvPr/>
        </p:nvSpPr>
        <p:spPr>
          <a:xfrm>
            <a:off x="609448" y="3523185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8456797761-17"/>
          <p:cNvSpPr/>
          <p:nvPr/>
        </p:nvSpPr>
        <p:spPr>
          <a:xfrm>
            <a:off x="609448" y="4479018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8456797762-18"/>
          <p:cNvSpPr/>
          <p:nvPr/>
        </p:nvSpPr>
        <p:spPr>
          <a:xfrm>
            <a:off x="609448" y="5080728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7" name="el-1788456797757-9"/>
          <p:cNvPicPr/>
          <p:nvPr/>
        </p:nvPicPr>
        <p:blipFill>
          <a:blip r:embed="rId1"/>
          <a:srcRect l="776" r="776"/>
          <a:stretch>
            <a:fillRect/>
          </a:stretch>
        </p:blipFill>
        <p:spPr>
          <a:xfrm>
            <a:off x="6446520" y="1929130"/>
            <a:ext cx="5133340" cy="3079115"/>
          </a:xfrm>
          <a:prstGeom prst="rect">
            <a:avLst/>
          </a:prstGeom>
          <a:ln w="9523" algn="in">
            <a:solidFill>
              <a:srgbClr val="C9D4E2"/>
            </a:solidFill>
            <a:prstDash val="solid"/>
          </a:ln>
        </p:spPr>
      </p:pic>
      <p:sp>
        <p:nvSpPr>
          <p:cNvPr id="11" name="el-1788456797730-3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7730-4"/>
          <p:cNvSpPr txBox="1"/>
          <p:nvPr/>
        </p:nvSpPr>
        <p:spPr>
          <a:xfrm>
            <a:off x="609448" y="633219"/>
            <a:ext cx="11579504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下载 TDM-GCC：认准官网，选 64 位安装包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3" name="el-1788456797758-10"/>
          <p:cNvSpPr txBox="1"/>
          <p:nvPr/>
        </p:nvSpPr>
        <p:spPr>
          <a:xfrm>
            <a:off x="857036" y="2708554"/>
            <a:ext cx="5867231" cy="3861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官网：</a:t>
            </a:r>
            <a:r>
              <a:rPr sz="157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jmeubank.github.io/tdm-gcc</a:t>
            </a:r>
            <a:endParaRPr sz="1570">
              <a:solidFill>
                <a:srgbClr val="1B3A6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el-1788456797758-11"/>
          <p:cNvSpPr txBox="1"/>
          <p:nvPr/>
        </p:nvSpPr>
        <p:spPr>
          <a:xfrm>
            <a:off x="857036" y="3342255"/>
            <a:ext cx="5334750" cy="7082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775"/>
              </a:lnSpc>
            </a:pP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选择 </a:t>
            </a:r>
            <a:r>
              <a:rPr sz="17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tdm64-gcc-10.3.0-2.exe</a:t>
            </a: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（适用 64 位 Windows）</a:t>
            </a:r>
            <a:endParaRPr sz="179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5" name="el-1788456797759-13"/>
          <p:cNvSpPr txBox="1"/>
          <p:nvPr/>
        </p:nvSpPr>
        <p:spPr>
          <a:xfrm>
            <a:off x="857036" y="4298088"/>
            <a:ext cx="5589753" cy="3541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下载链接实际指向 GitHub，速度慢可</a:t>
            </a:r>
            <a:r>
              <a:rPr lang="zh-CN" altLang="en-US"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下载学习通资料</a:t>
            </a:r>
            <a:r>
              <a:rPr lang="zh-CN" altLang="en-US"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包</a:t>
            </a:r>
            <a:endParaRPr lang="zh-CN" altLang="en-US" sz="179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6" name="el-1788456797759-12"/>
          <p:cNvSpPr txBox="1"/>
          <p:nvPr/>
        </p:nvSpPr>
        <p:spPr>
          <a:xfrm>
            <a:off x="857036" y="4899798"/>
            <a:ext cx="3816666" cy="3541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从官网获取软件，是基本的</a:t>
            </a:r>
            <a:r>
              <a:rPr sz="17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安全习惯</a:t>
            </a:r>
            <a:endParaRPr sz="17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7" name="el-1788456797760-14"/>
          <p:cNvSpPr txBox="1"/>
          <p:nvPr/>
        </p:nvSpPr>
        <p:spPr>
          <a:xfrm>
            <a:off x="6029960" y="5103495"/>
            <a:ext cx="5996940" cy="4794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875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TDM-GCC 官网下载页：tdm64-gcc-10.3.0-2.exe 即为课程所用版本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8" name="el-1788456797730-5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9" name="el-1788456797730-6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06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bldLvl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7908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8456797908-3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0" name="el-1788456797908-4"/>
          <p:cNvSpPr txBox="1"/>
          <p:nvPr/>
        </p:nvSpPr>
        <p:spPr>
          <a:xfrm>
            <a:off x="609448" y="633219"/>
            <a:ext cx="11579504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安装关键动作：勾上 Add to PATH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1" name="el-1788456797918-16"/>
          <p:cNvSpPr txBox="1"/>
          <p:nvPr/>
        </p:nvSpPr>
        <p:spPr>
          <a:xfrm>
            <a:off x="609448" y="2414841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7915-12"/>
          <p:cNvSpPr txBox="1"/>
          <p:nvPr/>
        </p:nvSpPr>
        <p:spPr>
          <a:xfrm>
            <a:off x="1085579" y="2424364"/>
            <a:ext cx="5237440" cy="6570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58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双击安装包 → 取消勾选 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Check for updated files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（省时间）→ 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Create</a:t>
            </a:r>
            <a:endParaRPr sz="172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3" name="el-1788456797918-17"/>
          <p:cNvSpPr txBox="1"/>
          <p:nvPr/>
        </p:nvSpPr>
        <p:spPr>
          <a:xfrm>
            <a:off x="609448" y="3271877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2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4" name="el-1788456797916-13"/>
          <p:cNvSpPr txBox="1"/>
          <p:nvPr/>
        </p:nvSpPr>
        <p:spPr>
          <a:xfrm>
            <a:off x="1085579" y="3281399"/>
            <a:ext cx="4859654" cy="352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安装目录保持默认，如 </a:t>
            </a: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C:\TDM-GCC-64</a:t>
            </a:r>
            <a:endParaRPr sz="1490">
              <a:solidFill>
                <a:srgbClr val="1B3A6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el-1788456797918-18"/>
          <p:cNvSpPr txBox="1"/>
          <p:nvPr/>
        </p:nvSpPr>
        <p:spPr>
          <a:xfrm>
            <a:off x="609448" y="3824189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3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6" name="el-1788456797916-14"/>
          <p:cNvSpPr txBox="1"/>
          <p:nvPr/>
        </p:nvSpPr>
        <p:spPr>
          <a:xfrm>
            <a:off x="1085579" y="3833711"/>
            <a:ext cx="6147606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组件保持默认全选 → 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Install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，等待完成 → 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Finish</a:t>
            </a:r>
            <a:endParaRPr sz="172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7" name="el-1788456797919-19"/>
          <p:cNvSpPr txBox="1"/>
          <p:nvPr/>
        </p:nvSpPr>
        <p:spPr>
          <a:xfrm>
            <a:off x="609448" y="4352694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B44B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4</a:t>
            </a:r>
            <a:endParaRPr sz="1790" b="1">
              <a:solidFill>
                <a:srgbClr val="B44B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8" name="el-1788456797918-15"/>
          <p:cNvSpPr txBox="1"/>
          <p:nvPr/>
        </p:nvSpPr>
        <p:spPr>
          <a:xfrm>
            <a:off x="1085579" y="4362217"/>
            <a:ext cx="5237440" cy="6570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580"/>
              </a:lnSpc>
            </a:pPr>
            <a:r>
              <a:rPr sz="1720" b="1">
                <a:solidFill>
                  <a:srgbClr val="B44B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务必确认勾选 Add to PATH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：不勾，后面 VSCode 找不到编译器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9" name="el-1788456797919-20"/>
          <p:cNvSpPr txBox="1"/>
          <p:nvPr/>
        </p:nvSpPr>
        <p:spPr>
          <a:xfrm>
            <a:off x="609448" y="5209730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5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0" name="el-1788456797919-21"/>
          <p:cNvSpPr txBox="1"/>
          <p:nvPr/>
        </p:nvSpPr>
        <p:spPr>
          <a:xfrm>
            <a:off x="1085579" y="5219252"/>
            <a:ext cx="3219597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装完不用重启，下一页马上验证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30" name="el-1788456797909-5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31" name="el-1788456797909-6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07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pic>
        <p:nvPicPr>
          <p:cNvPr id="6" name="图片 5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6030" y="1628775"/>
            <a:ext cx="3015615" cy="2348230"/>
          </a:xfrm>
          <a:prstGeom prst="rect">
            <a:avLst/>
          </a:prstGeom>
        </p:spPr>
      </p:pic>
      <p:pic>
        <p:nvPicPr>
          <p:cNvPr id="7" name="图片 6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485" y="4162425"/>
            <a:ext cx="2914650" cy="2268855"/>
          </a:xfrm>
          <a:prstGeom prst="rect">
            <a:avLst/>
          </a:prstGeom>
        </p:spPr>
      </p:pic>
      <p:pic>
        <p:nvPicPr>
          <p:cNvPr id="8" name="图片 7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0355" y="4163695"/>
            <a:ext cx="2912110" cy="226758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7933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8456797936-9"/>
          <p:cNvSpPr/>
          <p:nvPr/>
        </p:nvSpPr>
        <p:spPr>
          <a:xfrm>
            <a:off x="609448" y="3590438"/>
            <a:ext cx="4969765" cy="95226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F2733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4" name="el-1788456797938-13"/>
          <p:cNvCxnSpPr/>
          <p:nvPr/>
        </p:nvCxnSpPr>
        <p:spPr>
          <a:xfrm>
            <a:off x="609448" y="4776004"/>
            <a:ext cx="4969765" cy="914"/>
          </a:xfrm>
          <a:prstGeom prst="line">
            <a:avLst/>
          </a:prstGeom>
          <a:ln w="9523" cap="flat">
            <a:solidFill>
              <a:srgbClr val="C9D4E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8456797933-3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0" name="el-1788456797934-4"/>
          <p:cNvSpPr txBox="1"/>
          <p:nvPr/>
        </p:nvSpPr>
        <p:spPr>
          <a:xfrm>
            <a:off x="609448" y="633219"/>
            <a:ext cx="11579504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一条命令验证：gcc -v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1" name="el-1788456798073-17"/>
          <p:cNvSpPr txBox="1"/>
          <p:nvPr/>
        </p:nvSpPr>
        <p:spPr>
          <a:xfrm>
            <a:off x="609448" y="2409633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8072-15"/>
          <p:cNvSpPr txBox="1"/>
          <p:nvPr/>
        </p:nvSpPr>
        <p:spPr>
          <a:xfrm>
            <a:off x="1085579" y="2419156"/>
            <a:ext cx="5206789" cy="352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Win + R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→ 输入 </a:t>
            </a: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cmd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→ 回车，打开命令行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3" name="el-1788456798073-18"/>
          <p:cNvSpPr txBox="1"/>
          <p:nvPr/>
        </p:nvSpPr>
        <p:spPr>
          <a:xfrm>
            <a:off x="609448" y="3000036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2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4" name="el-1788456798072-16"/>
          <p:cNvSpPr txBox="1"/>
          <p:nvPr/>
        </p:nvSpPr>
        <p:spPr>
          <a:xfrm>
            <a:off x="1085579" y="3009558"/>
            <a:ext cx="4226061" cy="352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输入 </a:t>
            </a: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gcc -v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，看到版本信息即成功：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5" name="el-1788456797937-11"/>
          <p:cNvSpPr txBox="1"/>
          <p:nvPr/>
        </p:nvSpPr>
        <p:spPr>
          <a:xfrm>
            <a:off x="857036" y="3799936"/>
            <a:ext cx="1184763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9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gcc -v</a:t>
            </a:r>
            <a:endParaRPr sz="149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el-1788456797938-12"/>
          <p:cNvSpPr txBox="1"/>
          <p:nvPr/>
        </p:nvSpPr>
        <p:spPr>
          <a:xfrm>
            <a:off x="857036" y="4104660"/>
            <a:ext cx="5039965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9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gcc version </a:t>
            </a:r>
            <a:r>
              <a:rPr sz="1490" b="1">
                <a:solidFill>
                  <a:srgbClr val="D98E3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10.3.0 (tdm64-1)</a:t>
            </a:r>
            <a:endParaRPr sz="1490" b="1">
              <a:solidFill>
                <a:srgbClr val="D98E3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el-1788456797937-10"/>
          <p:cNvSpPr txBox="1"/>
          <p:nvPr/>
        </p:nvSpPr>
        <p:spPr>
          <a:xfrm>
            <a:off x="609448" y="4933127"/>
            <a:ext cx="4969765" cy="6198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435"/>
              </a:lnSpc>
            </a:pPr>
            <a:r>
              <a:rPr sz="157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若提示「不是内部或外部命令」：先</a:t>
            </a:r>
            <a:r>
              <a:rPr sz="1570" b="1">
                <a:solidFill>
                  <a:srgbClr val="B44B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重启电脑</a:t>
            </a:r>
            <a:r>
              <a:rPr sz="157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再试；仍不行说明 PATH 没配好，回上一页检查</a:t>
            </a:r>
            <a:endParaRPr sz="157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9" name="el-1788456797934-5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0" name="el-1788456797934-6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08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601595"/>
            <a:ext cx="6010275" cy="261556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8082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8456798112-19"/>
          <p:cNvSpPr/>
          <p:nvPr/>
        </p:nvSpPr>
        <p:spPr>
          <a:xfrm>
            <a:off x="609448" y="2434184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8456798112-20"/>
          <p:cNvSpPr/>
          <p:nvPr/>
        </p:nvSpPr>
        <p:spPr>
          <a:xfrm>
            <a:off x="609448" y="3048839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8456798086-10"/>
          <p:cNvCxnSpPr/>
          <p:nvPr/>
        </p:nvCxnSpPr>
        <p:spPr>
          <a:xfrm>
            <a:off x="609448" y="3455336"/>
            <a:ext cx="5582338" cy="914"/>
          </a:xfrm>
          <a:prstGeom prst="line">
            <a:avLst/>
          </a:prstGeom>
          <a:ln w="9523" cap="flat">
            <a:solidFill>
              <a:srgbClr val="C9D4E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8456798112-21"/>
          <p:cNvSpPr/>
          <p:nvPr/>
        </p:nvSpPr>
        <p:spPr>
          <a:xfrm>
            <a:off x="609448" y="5536028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7" name="el-1788456798108-11"/>
          <p:cNvPicPr/>
          <p:nvPr/>
        </p:nvPicPr>
        <p:blipFill>
          <a:blip r:embed="rId1"/>
          <a:srcRect b="9545"/>
          <a:stretch>
            <a:fillRect/>
          </a:stretch>
        </p:blipFill>
        <p:spPr>
          <a:xfrm>
            <a:off x="6725052" y="1268551"/>
            <a:ext cx="4854304" cy="2342564"/>
          </a:xfrm>
          <a:prstGeom prst="rect">
            <a:avLst/>
          </a:prstGeom>
          <a:ln w="9523" algn="in">
            <a:solidFill>
              <a:srgbClr val="C9D4E2"/>
            </a:solidFill>
            <a:prstDash val="solid"/>
          </a:ln>
        </p:spPr>
      </p:pic>
      <p:sp>
        <p:nvSpPr>
          <p:cNvPr id="12" name="el-1788456798083-3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3" name="el-1788456798083-4"/>
          <p:cNvSpPr txBox="1"/>
          <p:nvPr/>
        </p:nvSpPr>
        <p:spPr>
          <a:xfrm>
            <a:off x="609448" y="633219"/>
            <a:ext cx="11579504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安装 VSCode：官网下载，一路下一步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4" name="el-1788456798108-12"/>
          <p:cNvSpPr txBox="1"/>
          <p:nvPr/>
        </p:nvSpPr>
        <p:spPr>
          <a:xfrm>
            <a:off x="857036" y="2253254"/>
            <a:ext cx="6639765" cy="3861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官网：</a:t>
            </a:r>
            <a:r>
              <a:rPr sz="157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code.visualstudio.com/Download</a:t>
            </a:r>
            <a:endParaRPr sz="1570">
              <a:solidFill>
                <a:srgbClr val="1B3A6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el-1788456798109-13"/>
          <p:cNvSpPr txBox="1"/>
          <p:nvPr/>
        </p:nvSpPr>
        <p:spPr>
          <a:xfrm>
            <a:off x="857036" y="2867909"/>
            <a:ext cx="6075074" cy="3541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选 </a:t>
            </a:r>
            <a:r>
              <a:rPr sz="17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System Installer</a:t>
            </a: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（系统级安装，64 位）</a:t>
            </a:r>
            <a:endParaRPr sz="179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6" name="el-1788456798109-14"/>
          <p:cNvSpPr txBox="1"/>
          <p:nvPr/>
        </p:nvSpPr>
        <p:spPr>
          <a:xfrm>
            <a:off x="609448" y="3631504"/>
            <a:ext cx="572232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安装到「附加任务」页时，建议勾选：</a:t>
            </a:r>
            <a:endParaRPr sz="1570" b="1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7" name="el-1788456798113-22"/>
          <p:cNvSpPr txBox="1"/>
          <p:nvPr/>
        </p:nvSpPr>
        <p:spPr>
          <a:xfrm>
            <a:off x="914171" y="4050500"/>
            <a:ext cx="2927818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添加到 PATH（默认已勾）</a:t>
            </a:r>
            <a:endParaRPr sz="164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8" name="el-1788456798114-23"/>
          <p:cNvSpPr txBox="1"/>
          <p:nvPr/>
        </p:nvSpPr>
        <p:spPr>
          <a:xfrm>
            <a:off x="914171" y="4498063"/>
            <a:ext cx="5277614" cy="6284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460"/>
              </a:lnSpc>
            </a:pP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通过资源管理器右键菜单打开（推荐，随时可右键打开文件夹）</a:t>
            </a:r>
            <a:endParaRPr sz="164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9" name="el-1788456798110-15"/>
          <p:cNvSpPr txBox="1"/>
          <p:nvPr/>
        </p:nvSpPr>
        <p:spPr>
          <a:xfrm>
            <a:off x="857036" y="5355098"/>
            <a:ext cx="2922736" cy="3541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其余保持默认 → 安装完成</a:t>
            </a:r>
            <a:endParaRPr sz="179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0" name="el-1788456798110-16"/>
          <p:cNvSpPr txBox="1"/>
          <p:nvPr/>
        </p:nvSpPr>
        <p:spPr>
          <a:xfrm>
            <a:off x="6725285" y="3706495"/>
            <a:ext cx="4856480" cy="2400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VSCode 官网下载页：选择 System Installer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3" name="el-1788456798083-5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4" name="el-1788456798083-6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09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5" name="el-1788456798115-24"/>
          <p:cNvSpPr/>
          <p:nvPr/>
        </p:nvSpPr>
        <p:spPr>
          <a:xfrm>
            <a:off x="609448" y="4145726"/>
            <a:ext cx="171407" cy="17140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45" algn="in">
            <a:solidFill>
              <a:srgbClr val="D98E32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el-1788456798116-25"/>
          <p:cNvSpPr/>
          <p:nvPr/>
        </p:nvSpPr>
        <p:spPr>
          <a:xfrm>
            <a:off x="609448" y="4593289"/>
            <a:ext cx="171407" cy="17140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45" algn="in">
            <a:solidFill>
              <a:srgbClr val="D98E32"/>
            </a:solidFill>
            <a:prstDash val="solid"/>
          </a:ln>
        </p:spPr>
        <p:txBody>
          <a:bodyPr/>
          <a:lstStyle/>
          <a:p/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285" y="4077335"/>
            <a:ext cx="3286125" cy="254952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bldLvl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8267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8456798267-3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9" name="el-1788456798267-4"/>
          <p:cNvSpPr txBox="1"/>
          <p:nvPr/>
        </p:nvSpPr>
        <p:spPr>
          <a:xfrm>
            <a:off x="609600" y="633095"/>
            <a:ext cx="10835640" cy="487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两步把 VSCode 变成中文的 C 语言工作台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0" name="el-1788456798424-13"/>
          <p:cNvSpPr txBox="1"/>
          <p:nvPr>
            <p:custDataLst>
              <p:tags r:id="rId1"/>
            </p:custDataLst>
          </p:nvPr>
        </p:nvSpPr>
        <p:spPr>
          <a:xfrm>
            <a:off x="609448" y="1855536"/>
            <a:ext cx="671535" cy="352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</a:t>
            </a:r>
            <a:endParaRPr sz="194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1" name="el-1788456798426-16"/>
          <p:cNvSpPr txBox="1"/>
          <p:nvPr>
            <p:custDataLst>
              <p:tags r:id="rId2"/>
            </p:custDataLst>
          </p:nvPr>
        </p:nvSpPr>
        <p:spPr>
          <a:xfrm>
            <a:off x="1199850" y="1855536"/>
            <a:ext cx="5225049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汉化 </a:t>
            </a:r>
            <a:r>
              <a:rPr sz="149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（可选）</a:t>
            </a:r>
            <a:endParaRPr sz="149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8426-17"/>
          <p:cNvSpPr txBox="1"/>
          <p:nvPr>
            <p:custDataLst>
              <p:tags r:id="rId3"/>
            </p:custDataLst>
          </p:nvPr>
        </p:nvSpPr>
        <p:spPr>
          <a:xfrm>
            <a:off x="1200150" y="2265045"/>
            <a:ext cx="4416425" cy="9467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55000"/>
              </a:lnSpc>
            </a:pPr>
            <a:r>
              <a:rPr sz="180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搜 </a:t>
            </a:r>
            <a:r>
              <a:rPr sz="180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chinese</a:t>
            </a:r>
            <a:r>
              <a:rPr sz="180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→ 装「Chinese (Simplified) 语言包」→ 重启</a:t>
            </a:r>
            <a:r>
              <a:rPr lang="en-US" altLang="en-US" sz="180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VSCode</a:t>
            </a:r>
            <a:r>
              <a:rPr sz="180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生效</a:t>
            </a:r>
            <a:endParaRPr sz="180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3" name="el-1788456798424-14"/>
          <p:cNvSpPr txBox="1"/>
          <p:nvPr>
            <p:custDataLst>
              <p:tags r:id="rId4"/>
            </p:custDataLst>
          </p:nvPr>
        </p:nvSpPr>
        <p:spPr>
          <a:xfrm>
            <a:off x="609448" y="3983067"/>
            <a:ext cx="671535" cy="352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2</a:t>
            </a:r>
            <a:endParaRPr sz="194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4" name="el-1788456798427-18"/>
          <p:cNvSpPr txBox="1"/>
          <p:nvPr>
            <p:custDataLst>
              <p:tags r:id="rId5"/>
            </p:custDataLst>
          </p:nvPr>
        </p:nvSpPr>
        <p:spPr>
          <a:xfrm>
            <a:off x="1199850" y="3983067"/>
            <a:ext cx="5663851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C/C++ 扩展 </a:t>
            </a:r>
            <a:r>
              <a:rPr sz="149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（必装）</a:t>
            </a:r>
            <a:endParaRPr sz="149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5" name="el-1788456798427-19"/>
          <p:cNvSpPr txBox="1"/>
          <p:nvPr>
            <p:custDataLst>
              <p:tags r:id="rId6"/>
            </p:custDataLst>
          </p:nvPr>
        </p:nvSpPr>
        <p:spPr>
          <a:xfrm>
            <a:off x="1200150" y="4392295"/>
            <a:ext cx="4163695" cy="960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55000"/>
              </a:lnSpc>
            </a:pPr>
            <a:r>
              <a:rPr sz="180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搜 </a:t>
            </a:r>
            <a:r>
              <a:rPr sz="180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C/C++</a:t>
            </a:r>
            <a:r>
              <a:rPr sz="180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→ 装</a:t>
            </a:r>
            <a:r>
              <a:rPr sz="180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微软官方扩展</a:t>
            </a:r>
            <a:r>
              <a:rPr sz="180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（发布者 ms-vscode，下载量最大那个）</a:t>
            </a:r>
            <a:endParaRPr sz="180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9" name="el-1788456798267-5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0" name="el-1788456798268-6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10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rcRect r="2103"/>
          <a:stretch>
            <a:fillRect/>
          </a:stretch>
        </p:blipFill>
        <p:spPr>
          <a:xfrm>
            <a:off x="5518150" y="3862070"/>
            <a:ext cx="5911850" cy="16446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9580" y="1737995"/>
            <a:ext cx="5915660" cy="16192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8438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8456798438-3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8" name="el-1788456798438-4"/>
          <p:cNvSpPr txBox="1"/>
          <p:nvPr/>
        </p:nvSpPr>
        <p:spPr>
          <a:xfrm>
            <a:off x="609448" y="633219"/>
            <a:ext cx="11579504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VSCode 以文件夹为工作单位：先建文件夹，再打开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9" name="el-1788456798571-12"/>
          <p:cNvSpPr txBox="1"/>
          <p:nvPr/>
        </p:nvSpPr>
        <p:spPr>
          <a:xfrm>
            <a:off x="609448" y="2488641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0" name="el-1788456798569-10"/>
          <p:cNvSpPr txBox="1"/>
          <p:nvPr/>
        </p:nvSpPr>
        <p:spPr>
          <a:xfrm>
            <a:off x="1085579" y="2498164"/>
            <a:ext cx="5562572" cy="352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新建练习文件夹，如 </a:t>
            </a: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D:\c-lessons\hello</a:t>
            </a:r>
            <a:endParaRPr sz="1490">
              <a:solidFill>
                <a:srgbClr val="1B3A6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el-1788456798571-13"/>
          <p:cNvSpPr txBox="1"/>
          <p:nvPr/>
        </p:nvSpPr>
        <p:spPr>
          <a:xfrm>
            <a:off x="609448" y="3059999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2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8570-11"/>
          <p:cNvSpPr txBox="1"/>
          <p:nvPr/>
        </p:nvSpPr>
        <p:spPr>
          <a:xfrm>
            <a:off x="1085579" y="3069521"/>
            <a:ext cx="4682867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VSCode：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文件 → 打开文件夹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→ 选中它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3" name="el-1788456798571-14"/>
          <p:cNvSpPr txBox="1"/>
          <p:nvPr/>
        </p:nvSpPr>
        <p:spPr>
          <a:xfrm>
            <a:off x="609448" y="3607549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3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4" name="el-1788456798572-15"/>
          <p:cNvSpPr txBox="1"/>
          <p:nvPr/>
        </p:nvSpPr>
        <p:spPr>
          <a:xfrm>
            <a:off x="1085579" y="3617072"/>
            <a:ext cx="3796180" cy="3237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弹出信任提示 → 点「管理」→ 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信任</a:t>
            </a:r>
            <a:endParaRPr sz="172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5" name="el-1788456798574-19"/>
          <p:cNvSpPr txBox="1"/>
          <p:nvPr/>
        </p:nvSpPr>
        <p:spPr>
          <a:xfrm>
            <a:off x="1085579" y="3983693"/>
            <a:ext cx="4513721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自己的练习目录才信任，别乱信任来路不明的文件夹</a:t>
            </a:r>
            <a:endParaRPr sz="149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6" name="el-1788456798572-16"/>
          <p:cNvSpPr txBox="1"/>
          <p:nvPr/>
        </p:nvSpPr>
        <p:spPr>
          <a:xfrm>
            <a:off x="609448" y="4469346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4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7" name="el-1788456798572-17"/>
          <p:cNvSpPr txBox="1"/>
          <p:nvPr/>
        </p:nvSpPr>
        <p:spPr>
          <a:xfrm>
            <a:off x="1085579" y="4478869"/>
            <a:ext cx="4357788" cy="65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5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左侧出现文件夹 → 右上角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「新建文件」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→ 命名 </a:t>
            </a: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hello.c</a:t>
            </a:r>
            <a:endParaRPr sz="1490">
              <a:solidFill>
                <a:srgbClr val="1B3A6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el-1788456798438-5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1" name="el-1788456798439-6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11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2295" y="2517140"/>
            <a:ext cx="6084570" cy="261493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8583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8456798585-3"/>
          <p:cNvSpPr/>
          <p:nvPr/>
        </p:nvSpPr>
        <p:spPr>
          <a:xfrm>
            <a:off x="609448" y="2168443"/>
            <a:ext cx="5798084" cy="36257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F273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8456798591-19"/>
          <p:cNvSpPr/>
          <p:nvPr/>
        </p:nvSpPr>
        <p:spPr>
          <a:xfrm>
            <a:off x="6940799" y="3030687"/>
            <a:ext cx="4638706" cy="10129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2F5FA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8456798591-20"/>
          <p:cNvCxnSpPr/>
          <p:nvPr/>
        </p:nvCxnSpPr>
        <p:spPr>
          <a:xfrm>
            <a:off x="6964605" y="3030687"/>
            <a:ext cx="914" cy="1012969"/>
          </a:xfrm>
          <a:prstGeom prst="line">
            <a:avLst/>
          </a:prstGeom>
          <a:ln w="47613" cap="flat">
            <a:solidFill>
              <a:srgbClr val="B44B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8456798592-23"/>
          <p:cNvSpPr/>
          <p:nvPr/>
        </p:nvSpPr>
        <p:spPr>
          <a:xfrm>
            <a:off x="7197909" y="3202094"/>
            <a:ext cx="285679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44B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8456798585-4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1" name="el-1788456798585-5"/>
          <p:cNvSpPr txBox="1"/>
          <p:nvPr/>
        </p:nvSpPr>
        <p:spPr>
          <a:xfrm>
            <a:off x="609448" y="633219"/>
            <a:ext cx="11236690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敲下第一个程序：注意标点全是英文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8586-6"/>
          <p:cNvSpPr txBox="1"/>
          <p:nvPr/>
        </p:nvSpPr>
        <p:spPr>
          <a:xfrm>
            <a:off x="971307" y="2539825"/>
            <a:ext cx="45380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40">
                <a:solidFill>
                  <a:srgbClr val="8A9BA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hello.c —— 第一个 C 程序</a:t>
            </a:r>
            <a:endParaRPr sz="1640">
              <a:solidFill>
                <a:srgbClr val="8A9BA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el-1788456798586-7"/>
          <p:cNvSpPr txBox="1"/>
          <p:nvPr/>
        </p:nvSpPr>
        <p:spPr>
          <a:xfrm>
            <a:off x="971307" y="2916862"/>
            <a:ext cx="371696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D98E3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#include</a:t>
            </a:r>
            <a:r>
              <a:rPr sz="164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＜stdio.h＞</a:t>
            </a:r>
            <a:endParaRPr sz="164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el-1788456798586-8"/>
          <p:cNvSpPr txBox="1"/>
          <p:nvPr/>
        </p:nvSpPr>
        <p:spPr>
          <a:xfrm>
            <a:off x="971307" y="3670934"/>
            <a:ext cx="291243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D98E3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</a:t>
            </a:r>
            <a:r>
              <a:rPr sz="164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main(</a:t>
            </a:r>
            <a:r>
              <a:rPr sz="1640" b="1">
                <a:solidFill>
                  <a:srgbClr val="D98E3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void</a:t>
            </a:r>
            <a:r>
              <a:rPr sz="164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</a:t>
            </a:r>
            <a:endParaRPr sz="164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el-1788456798586-9"/>
          <p:cNvSpPr txBox="1"/>
          <p:nvPr/>
        </p:nvSpPr>
        <p:spPr>
          <a:xfrm>
            <a:off x="971307" y="4047970"/>
            <a:ext cx="406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4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sz="164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el-1788456798587-10"/>
          <p:cNvSpPr txBox="1"/>
          <p:nvPr/>
        </p:nvSpPr>
        <p:spPr>
          <a:xfrm>
            <a:off x="971307" y="4425006"/>
            <a:ext cx="553564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4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    printf(</a:t>
            </a:r>
            <a:r>
              <a:rPr sz="1640" b="1">
                <a:solidFill>
                  <a:srgbClr val="D98E3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"Hello World!\n"</a:t>
            </a:r>
            <a:r>
              <a:rPr sz="164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);</a:t>
            </a:r>
            <a:endParaRPr sz="164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el-1788456798587-11"/>
          <p:cNvSpPr txBox="1"/>
          <p:nvPr/>
        </p:nvSpPr>
        <p:spPr>
          <a:xfrm>
            <a:off x="971307" y="4802043"/>
            <a:ext cx="245150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4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    </a:t>
            </a:r>
            <a:r>
              <a:rPr sz="1640" b="1">
                <a:solidFill>
                  <a:srgbClr val="D98E3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return</a:t>
            </a:r>
            <a:r>
              <a:rPr sz="164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0;</a:t>
            </a:r>
            <a:endParaRPr sz="164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el-1788456798587-12"/>
          <p:cNvSpPr txBox="1"/>
          <p:nvPr/>
        </p:nvSpPr>
        <p:spPr>
          <a:xfrm>
            <a:off x="971307" y="5179079"/>
            <a:ext cx="74165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4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64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el-1788456798592-22"/>
          <p:cNvSpPr txBox="1"/>
          <p:nvPr/>
        </p:nvSpPr>
        <p:spPr>
          <a:xfrm>
            <a:off x="7003648" y="3202094"/>
            <a:ext cx="6742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490" b="1">
                <a:solidFill>
                  <a:srgbClr val="FFFFFF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!</a:t>
            </a:r>
            <a:endParaRPr sz="1490" b="1">
              <a:solidFill>
                <a:srgbClr val="FFFFFF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0" name="el-1788456798592-21"/>
          <p:cNvSpPr txBox="1"/>
          <p:nvPr/>
        </p:nvSpPr>
        <p:spPr>
          <a:xfrm>
            <a:off x="7654995" y="3202094"/>
            <a:ext cx="3715012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lang="zh-CN" altLang="en-US"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注意事项</a:t>
            </a: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：</a:t>
            </a:r>
            <a:r>
              <a:rPr sz="1640" b="1">
                <a:solidFill>
                  <a:srgbClr val="B44B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先切英文输入法</a:t>
            </a: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。分号、引号、括号必须是英文符号</a:t>
            </a:r>
            <a:endParaRPr sz="164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1" name="el-1788456798590-17"/>
          <p:cNvSpPr txBox="1"/>
          <p:nvPr/>
        </p:nvSpPr>
        <p:spPr>
          <a:xfrm>
            <a:off x="6940799" y="4291243"/>
            <a:ext cx="2889662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57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这是第01讲内容的实战演练：</a:t>
            </a:r>
            <a:endParaRPr sz="157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2" name="el-1788456798590-18"/>
          <p:cNvSpPr txBox="1"/>
          <p:nvPr/>
        </p:nvSpPr>
        <p:spPr>
          <a:xfrm>
            <a:off x="6940799" y="4621113"/>
            <a:ext cx="40567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57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编辑</a:t>
            </a:r>
            <a:r>
              <a:rPr sz="157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：在 VSCode 里亲手敲出这段代码</a:t>
            </a:r>
            <a:endParaRPr sz="157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3" name="el-1788456798587-13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4" name="el-1788456798587-14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12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8746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8456798750-11"/>
          <p:cNvSpPr/>
          <p:nvPr/>
        </p:nvSpPr>
        <p:spPr>
          <a:xfrm>
            <a:off x="609448" y="4335137"/>
            <a:ext cx="4969765" cy="60944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F2733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4" name="el-1788456798750-12"/>
          <p:cNvCxnSpPr/>
          <p:nvPr/>
        </p:nvCxnSpPr>
        <p:spPr>
          <a:xfrm>
            <a:off x="609448" y="5177888"/>
            <a:ext cx="4969765" cy="914"/>
          </a:xfrm>
          <a:prstGeom prst="line">
            <a:avLst/>
          </a:prstGeom>
          <a:ln w="9523" cap="flat">
            <a:solidFill>
              <a:srgbClr val="C9D4E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8456798747-3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0" name="el-1788456798747-4"/>
          <p:cNvSpPr txBox="1"/>
          <p:nvPr/>
        </p:nvSpPr>
        <p:spPr>
          <a:xfrm>
            <a:off x="609448" y="633219"/>
            <a:ext cx="11579504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点一下运行按钮，看 Hello World!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1" name="el-1788456798896-17"/>
          <p:cNvSpPr txBox="1"/>
          <p:nvPr/>
        </p:nvSpPr>
        <p:spPr>
          <a:xfrm>
            <a:off x="609448" y="1978289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8895-14"/>
          <p:cNvSpPr txBox="1"/>
          <p:nvPr/>
        </p:nvSpPr>
        <p:spPr>
          <a:xfrm>
            <a:off x="1085579" y="1987811"/>
            <a:ext cx="4493635" cy="6570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58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点右上角 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▶ 运行按钮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（或菜单「运行 → 运行而不调试」）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3" name="el-1788456798896-18"/>
          <p:cNvSpPr txBox="1"/>
          <p:nvPr/>
        </p:nvSpPr>
        <p:spPr>
          <a:xfrm>
            <a:off x="609448" y="2873415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2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4" name="el-1788456798895-15"/>
          <p:cNvSpPr txBox="1"/>
          <p:nvPr/>
        </p:nvSpPr>
        <p:spPr>
          <a:xfrm>
            <a:off x="1085579" y="2882937"/>
            <a:ext cx="4493635" cy="6570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58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首次运行要求选配置 → 选 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C/C++: gcc 生成和调试活动文件</a:t>
            </a:r>
            <a:endParaRPr sz="172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5" name="el-1788456798896-19"/>
          <p:cNvSpPr txBox="1"/>
          <p:nvPr/>
        </p:nvSpPr>
        <p:spPr>
          <a:xfrm>
            <a:off x="609448" y="3768541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3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6" name="el-1788456798896-16"/>
          <p:cNvSpPr txBox="1"/>
          <p:nvPr/>
        </p:nvSpPr>
        <p:spPr>
          <a:xfrm>
            <a:off x="1085579" y="3778063"/>
            <a:ext cx="3219597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下方面板切到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终端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，看到输出：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7" name="el-1788456798750-10"/>
          <p:cNvSpPr txBox="1"/>
          <p:nvPr/>
        </p:nvSpPr>
        <p:spPr>
          <a:xfrm>
            <a:off x="837990" y="4487499"/>
            <a:ext cx="5605876" cy="3047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Hello World!</a:t>
            </a:r>
            <a:endParaRPr sz="149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el-1788456798749-9"/>
          <p:cNvSpPr txBox="1"/>
          <p:nvPr/>
        </p:nvSpPr>
        <p:spPr>
          <a:xfrm>
            <a:off x="609448" y="5335012"/>
            <a:ext cx="4969765" cy="6493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540"/>
              </a:lnSpc>
            </a:pPr>
            <a:r>
              <a:rPr sz="16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恭喜：</a:t>
            </a:r>
            <a:r>
              <a:rPr sz="164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编辑、编译、链接、运行</a:t>
            </a:r>
            <a:r>
              <a:rPr sz="16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，你刚走完了第01讲的整条流水线</a:t>
            </a:r>
            <a:endParaRPr sz="16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9" name="el-1788456798897-20"/>
          <p:cNvSpPr txBox="1"/>
          <p:nvPr/>
        </p:nvSpPr>
        <p:spPr>
          <a:xfrm>
            <a:off x="6112480" y="5337392"/>
            <a:ext cx="6076472" cy="23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运行后的终端输出：hello.exe 执行，打印 Hello World!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0" name="el-1788456798747-5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1" name="el-1788456798747-6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13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050" y="1412875"/>
            <a:ext cx="5576570" cy="384111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8909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8456798911-3"/>
          <p:cNvSpPr/>
          <p:nvPr/>
        </p:nvSpPr>
        <p:spPr>
          <a:xfrm>
            <a:off x="609448" y="1814916"/>
            <a:ext cx="5819362" cy="433279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F273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8456798923-27"/>
          <p:cNvSpPr/>
          <p:nvPr/>
        </p:nvSpPr>
        <p:spPr>
          <a:xfrm>
            <a:off x="6923985" y="2599193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8456798923-28"/>
          <p:cNvSpPr/>
          <p:nvPr/>
        </p:nvSpPr>
        <p:spPr>
          <a:xfrm>
            <a:off x="6923985" y="3551455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8456798919-23"/>
          <p:cNvSpPr/>
          <p:nvPr/>
        </p:nvSpPr>
        <p:spPr>
          <a:xfrm>
            <a:off x="6923985" y="3976551"/>
            <a:ext cx="4655370" cy="60944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F27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8456798923-29"/>
          <p:cNvSpPr/>
          <p:nvPr/>
        </p:nvSpPr>
        <p:spPr>
          <a:xfrm>
            <a:off x="6923985" y="4995471"/>
            <a:ext cx="95226" cy="952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8456798911-4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8911-5"/>
          <p:cNvSpPr txBox="1"/>
          <p:nvPr/>
        </p:nvSpPr>
        <p:spPr>
          <a:xfrm>
            <a:off x="609448" y="633219"/>
            <a:ext cx="11236690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点的那一下按钮，其实是替你执行了一条命令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3" name="el-1788456798912-6"/>
          <p:cNvSpPr txBox="1"/>
          <p:nvPr/>
        </p:nvSpPr>
        <p:spPr>
          <a:xfrm>
            <a:off x="914171" y="2129163"/>
            <a:ext cx="5931502" cy="2094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8A9BA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.vscode/tasks.json（VSCode 自动生成）</a:t>
            </a:r>
            <a:endParaRPr sz="1420">
              <a:solidFill>
                <a:srgbClr val="8A9BA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el-1788456798913-7"/>
          <p:cNvSpPr txBox="1"/>
          <p:nvPr/>
        </p:nvSpPr>
        <p:spPr>
          <a:xfrm>
            <a:off x="914171" y="2445790"/>
            <a:ext cx="351063" cy="2094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sz="142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el-1788456798913-8"/>
          <p:cNvSpPr txBox="1"/>
          <p:nvPr/>
        </p:nvSpPr>
        <p:spPr>
          <a:xfrm>
            <a:off x="914171" y="2762417"/>
            <a:ext cx="2066783" cy="2094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  </a:t>
            </a:r>
            <a:r>
              <a:rPr sz="1420">
                <a:solidFill>
                  <a:srgbClr val="7FB3E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"tasks"</a:t>
            </a: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: [</a:t>
            </a:r>
            <a:endParaRPr sz="142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el-1788456798913-9"/>
          <p:cNvSpPr txBox="1"/>
          <p:nvPr/>
        </p:nvSpPr>
        <p:spPr>
          <a:xfrm>
            <a:off x="914171" y="3079044"/>
            <a:ext cx="785384" cy="2094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    {</a:t>
            </a:r>
            <a:endParaRPr sz="142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el-1788456798913-10"/>
          <p:cNvSpPr txBox="1"/>
          <p:nvPr/>
        </p:nvSpPr>
        <p:spPr>
          <a:xfrm>
            <a:off x="914171" y="3395671"/>
            <a:ext cx="3999292" cy="2094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      </a:t>
            </a:r>
            <a:r>
              <a:rPr sz="1420">
                <a:solidFill>
                  <a:srgbClr val="7FB3E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"type"</a:t>
            </a: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: "cppbuild",</a:t>
            </a:r>
            <a:endParaRPr sz="142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el-1788456798914-11"/>
          <p:cNvSpPr txBox="1"/>
          <p:nvPr/>
        </p:nvSpPr>
        <p:spPr>
          <a:xfrm>
            <a:off x="914171" y="3712298"/>
            <a:ext cx="6416692" cy="2094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      </a:t>
            </a:r>
            <a:r>
              <a:rPr sz="1420">
                <a:solidFill>
                  <a:srgbClr val="7FB3E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"label"</a:t>
            </a: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: "C/C++: gcc.exe 生成活动文件",</a:t>
            </a:r>
            <a:endParaRPr sz="142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el-1788456798914-12"/>
          <p:cNvSpPr txBox="1"/>
          <p:nvPr/>
        </p:nvSpPr>
        <p:spPr>
          <a:xfrm>
            <a:off x="914171" y="4028925"/>
            <a:ext cx="7162182" cy="2094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4017645" algn="l">
              <a:lnSpc>
                <a:spcPct val="100000"/>
              </a:lnSpc>
            </a:pP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      ,</a:t>
            </a:r>
            <a:endParaRPr sz="142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el-1788456798915-13"/>
          <p:cNvSpPr/>
          <p:nvPr/>
        </p:nvSpPr>
        <p:spPr>
          <a:xfrm>
            <a:off x="1565727" y="4028925"/>
            <a:ext cx="4017355" cy="20949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98E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8456798915-13__text"/>
          <p:cNvSpPr txBox="1"/>
          <p:nvPr/>
        </p:nvSpPr>
        <p:spPr>
          <a:xfrm>
            <a:off x="1565727" y="4028925"/>
            <a:ext cx="4017355" cy="2094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420" b="1" spc="0">
                <a:solidFill>
                  <a:srgbClr val="1F27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"command": "C:\\TDMGCC\\bin\\gcc.exe"</a:t>
            </a:r>
            <a:endParaRPr sz="1420" b="1" spc="0">
              <a:solidFill>
                <a:srgbClr val="1F27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el-1788456798917-16"/>
          <p:cNvSpPr txBox="1"/>
          <p:nvPr/>
        </p:nvSpPr>
        <p:spPr>
          <a:xfrm>
            <a:off x="914171" y="4345552"/>
            <a:ext cx="4017801" cy="526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485"/>
              </a:lnSpc>
            </a:pP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      </a:t>
            </a:r>
            <a:r>
              <a:rPr sz="1420">
                <a:solidFill>
                  <a:srgbClr val="7FB3E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"args"</a:t>
            </a: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: ["-g", </a:t>
            </a:r>
            <a:r>
              <a:rPr sz="1420" b="1">
                <a:solidFill>
                  <a:srgbClr val="D98E3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"${file}"</a:t>
            </a: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, "-o", </a:t>
            </a:r>
            <a:r>
              <a:rPr sz="1420" b="1">
                <a:solidFill>
                  <a:srgbClr val="D98E3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"hello.exe"</a:t>
            </a: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</a:t>
            </a:r>
            <a:endParaRPr sz="142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el-1788456798917-17"/>
          <p:cNvSpPr txBox="1"/>
          <p:nvPr/>
        </p:nvSpPr>
        <p:spPr>
          <a:xfrm>
            <a:off x="914171" y="4978806"/>
            <a:ext cx="785384" cy="2094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    }</a:t>
            </a:r>
            <a:endParaRPr sz="142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el-1788456798917-18"/>
          <p:cNvSpPr txBox="1"/>
          <p:nvPr/>
        </p:nvSpPr>
        <p:spPr>
          <a:xfrm>
            <a:off x="914171" y="5295433"/>
            <a:ext cx="568298" cy="2094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  ]</a:t>
            </a:r>
            <a:endParaRPr sz="142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el-1788456798917-19"/>
          <p:cNvSpPr txBox="1"/>
          <p:nvPr/>
        </p:nvSpPr>
        <p:spPr>
          <a:xfrm>
            <a:off x="914171" y="5612060"/>
            <a:ext cx="640551" cy="2094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42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el-1788456798921-24"/>
          <p:cNvSpPr txBox="1"/>
          <p:nvPr/>
        </p:nvSpPr>
        <p:spPr>
          <a:xfrm>
            <a:off x="7171573" y="2437309"/>
            <a:ext cx="4407782" cy="7046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55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运行后项目里多了 </a:t>
            </a: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.vscode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文件夹，</a:t>
            </a: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tasks.json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记录了「怎么编译」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7" name="el-1788456798922-26"/>
          <p:cNvSpPr txBox="1"/>
          <p:nvPr/>
        </p:nvSpPr>
        <p:spPr>
          <a:xfrm>
            <a:off x="7171573" y="3389570"/>
            <a:ext cx="3905280" cy="3393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你点按钮 ≈ VSCode 替你执行：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8" name="el-1788456798919-22"/>
          <p:cNvSpPr txBox="1"/>
          <p:nvPr/>
        </p:nvSpPr>
        <p:spPr>
          <a:xfrm>
            <a:off x="7133483" y="4128912"/>
            <a:ext cx="5055469" cy="3047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gcc </a:t>
            </a:r>
            <a:r>
              <a:rPr sz="1490" b="1">
                <a:solidFill>
                  <a:srgbClr val="D98E3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-g</a:t>
            </a:r>
            <a:r>
              <a:rPr sz="149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hello.c </a:t>
            </a:r>
            <a:r>
              <a:rPr sz="1490" b="1">
                <a:solidFill>
                  <a:srgbClr val="D98E3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-o</a:t>
            </a:r>
            <a:r>
              <a:rPr sz="149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hello.exe</a:t>
            </a:r>
            <a:endParaRPr sz="149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el-1788456798922-25"/>
          <p:cNvSpPr txBox="1"/>
          <p:nvPr/>
        </p:nvSpPr>
        <p:spPr>
          <a:xfrm>
            <a:off x="7171573" y="4833586"/>
            <a:ext cx="4407782" cy="6917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55000"/>
              </a:lnSpc>
            </a:pP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c_cpp_properties.json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：告诉编辑器用哪套头文件做代码提示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30" name="el-1788456798915-14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31" name="el-1788456798916-15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14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8933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8456798936-9"/>
          <p:cNvSpPr/>
          <p:nvPr/>
        </p:nvSpPr>
        <p:spPr>
          <a:xfrm>
            <a:off x="609448" y="2459627"/>
            <a:ext cx="4969765" cy="165113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F2733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4" name="el-1788456798937-13"/>
          <p:cNvCxnSpPr/>
          <p:nvPr/>
        </p:nvCxnSpPr>
        <p:spPr>
          <a:xfrm>
            <a:off x="609448" y="5262997"/>
            <a:ext cx="4969765" cy="914"/>
          </a:xfrm>
          <a:prstGeom prst="line">
            <a:avLst/>
          </a:prstGeom>
          <a:ln w="9523" cap="flat">
            <a:solidFill>
              <a:srgbClr val="C9D4E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8456798933-3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0" name="el-1788456798934-4"/>
          <p:cNvSpPr txBox="1"/>
          <p:nvPr/>
        </p:nvSpPr>
        <p:spPr>
          <a:xfrm>
            <a:off x="609448" y="633219"/>
            <a:ext cx="11236690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脱开按钮：命令行亲手编译一次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1" name="el-1788456799074-18"/>
          <p:cNvSpPr txBox="1"/>
          <p:nvPr/>
        </p:nvSpPr>
        <p:spPr>
          <a:xfrm>
            <a:off x="609448" y="1893031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9073-16"/>
          <p:cNvSpPr txBox="1"/>
          <p:nvPr/>
        </p:nvSpPr>
        <p:spPr>
          <a:xfrm>
            <a:off x="1085579" y="1902554"/>
            <a:ext cx="5653769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Ctrl + ~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打开 VSCode 内置终端，依次输入：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3" name="el-1788456798937-11"/>
          <p:cNvSpPr txBox="1"/>
          <p:nvPr/>
        </p:nvSpPr>
        <p:spPr>
          <a:xfrm>
            <a:off x="895126" y="2754828"/>
            <a:ext cx="4555936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57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gcc hello.c -o hello.exe</a:t>
            </a:r>
            <a:endParaRPr sz="157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el-1788456798937-12"/>
          <p:cNvSpPr txBox="1"/>
          <p:nvPr/>
        </p:nvSpPr>
        <p:spPr>
          <a:xfrm>
            <a:off x="895126" y="3114754"/>
            <a:ext cx="2163967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570">
                <a:solidFill>
                  <a:srgbClr val="F2F5F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.\hello.exe</a:t>
            </a:r>
            <a:endParaRPr sz="1570">
              <a:solidFill>
                <a:srgbClr val="F2F5F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el-1788456798938-14"/>
          <p:cNvSpPr txBox="1"/>
          <p:nvPr/>
        </p:nvSpPr>
        <p:spPr>
          <a:xfrm>
            <a:off x="895126" y="3588950"/>
            <a:ext cx="4730367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>
                <a:solidFill>
                  <a:srgbClr val="8A9BA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第一条：编译　第二条：运行</a:t>
            </a:r>
            <a:endParaRPr sz="1570">
              <a:solidFill>
                <a:srgbClr val="8A9BA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el-1788456799074-19"/>
          <p:cNvSpPr txBox="1"/>
          <p:nvPr/>
        </p:nvSpPr>
        <p:spPr>
          <a:xfrm>
            <a:off x="609448" y="4339303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2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7" name="el-1788456799074-17"/>
          <p:cNvSpPr txBox="1"/>
          <p:nvPr/>
        </p:nvSpPr>
        <p:spPr>
          <a:xfrm>
            <a:off x="1085579" y="4348825"/>
            <a:ext cx="4493635" cy="6808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5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看到 </a:t>
            </a: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Hello World!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→ 你已能在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没有 IDE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的环境下完成「编译 + 运行」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8" name="el-1788456798937-10"/>
          <p:cNvSpPr txBox="1"/>
          <p:nvPr/>
        </p:nvSpPr>
        <p:spPr>
          <a:xfrm>
            <a:off x="609448" y="5420120"/>
            <a:ext cx="4969765" cy="6493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540"/>
              </a:lnSpc>
            </a:pPr>
            <a:r>
              <a:rPr sz="16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体会：IDE 是</a:t>
            </a:r>
            <a:r>
              <a:rPr sz="164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效率工具</a:t>
            </a:r>
            <a:r>
              <a:rPr sz="16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，不是必需品：流水线本身只需要一条命令</a:t>
            </a:r>
            <a:endParaRPr sz="16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9" name="el-1788456799075-20"/>
          <p:cNvSpPr txBox="1"/>
          <p:nvPr/>
        </p:nvSpPr>
        <p:spPr>
          <a:xfrm>
            <a:off x="6598285" y="5337175"/>
            <a:ext cx="4181475" cy="2400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手动编译实测：终端输出 Hello World!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0" name="el-1788456798934-5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1" name="el-1788456798934-6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15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050" y="2284730"/>
            <a:ext cx="6246495" cy="299910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9228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B44B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8456799230-9"/>
          <p:cNvSpPr/>
          <p:nvPr/>
        </p:nvSpPr>
        <p:spPr>
          <a:xfrm>
            <a:off x="609448" y="1989894"/>
            <a:ext cx="10970057" cy="1072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2F5FA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4" name="el-1788456799230-11"/>
          <p:cNvCxnSpPr/>
          <p:nvPr/>
        </p:nvCxnSpPr>
        <p:spPr>
          <a:xfrm>
            <a:off x="633254" y="1989894"/>
            <a:ext cx="914" cy="1072634"/>
          </a:xfrm>
          <a:prstGeom prst="line">
            <a:avLst/>
          </a:prstGeom>
          <a:ln w="47613" cap="flat">
            <a:solidFill>
              <a:srgbClr val="B44B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8456799230-10"/>
          <p:cNvCxnSpPr/>
          <p:nvPr/>
        </p:nvCxnSpPr>
        <p:spPr>
          <a:xfrm>
            <a:off x="609448" y="5452705"/>
            <a:ext cx="10970057" cy="914"/>
          </a:xfrm>
          <a:prstGeom prst="line">
            <a:avLst/>
          </a:prstGeom>
          <a:ln w="9523" cap="flat">
            <a:solidFill>
              <a:srgbClr val="C9D4E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8456799233-16"/>
          <p:cNvSpPr/>
          <p:nvPr/>
        </p:nvSpPr>
        <p:spPr>
          <a:xfrm>
            <a:off x="609448" y="5681248"/>
            <a:ext cx="285679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44B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8456799228-3"/>
          <p:cNvSpPr txBox="1"/>
          <p:nvPr/>
        </p:nvSpPr>
        <p:spPr>
          <a:xfrm>
            <a:off x="609448" y="261837"/>
            <a:ext cx="11469042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 · 排雷一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1" name="el-1788456799228-4"/>
          <p:cNvSpPr txBox="1"/>
          <p:nvPr/>
        </p:nvSpPr>
        <p:spPr>
          <a:xfrm>
            <a:off x="609448" y="633219"/>
            <a:ext cx="11579504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exe 刚生成就消失？是杀毒软件误删，不是你的错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9233-17"/>
          <p:cNvSpPr txBox="1"/>
          <p:nvPr/>
        </p:nvSpPr>
        <p:spPr>
          <a:xfrm>
            <a:off x="904649" y="2189869"/>
            <a:ext cx="565792" cy="304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44B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现象</a:t>
            </a:r>
            <a:endParaRPr sz="1640" b="1">
              <a:solidFill>
                <a:srgbClr val="B44B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3" name="el-1788456799233-13"/>
          <p:cNvSpPr txBox="1"/>
          <p:nvPr/>
        </p:nvSpPr>
        <p:spPr>
          <a:xfrm>
            <a:off x="1495200" y="2180347"/>
            <a:ext cx="9836716" cy="6917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55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程序一运行就没了，或弹窗报 </a:t>
            </a: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Trojan:Win32/Wacatac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。这是</a:t>
            </a:r>
            <a:r>
              <a:rPr sz="1720" b="1">
                <a:solidFill>
                  <a:srgbClr val="B44B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误报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，常见于小型未签名的 GCC 编译产物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4" name="el-1788456799233-14"/>
          <p:cNvSpPr txBox="1"/>
          <p:nvPr/>
        </p:nvSpPr>
        <p:spPr>
          <a:xfrm>
            <a:off x="666583" y="3348207"/>
            <a:ext cx="10995768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解决三步：</a:t>
            </a:r>
            <a:endParaRPr sz="1570" b="1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5" name="el-1788456799237-21"/>
          <p:cNvSpPr txBox="1"/>
          <p:nvPr/>
        </p:nvSpPr>
        <p:spPr>
          <a:xfrm>
            <a:off x="666583" y="3805292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6" name="el-1788456799236-18"/>
          <p:cNvSpPr txBox="1"/>
          <p:nvPr/>
        </p:nvSpPr>
        <p:spPr>
          <a:xfrm>
            <a:off x="1142714" y="3814815"/>
            <a:ext cx="7684622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Windows 安全中心 → 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保护历史记录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→ 找到被隔离的 exe → 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恢复</a:t>
            </a:r>
            <a:endParaRPr sz="172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7" name="el-1788456799237-22"/>
          <p:cNvSpPr txBox="1"/>
          <p:nvPr/>
        </p:nvSpPr>
        <p:spPr>
          <a:xfrm>
            <a:off x="666583" y="4314752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2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8" name="el-1788456799236-19"/>
          <p:cNvSpPr txBox="1"/>
          <p:nvPr/>
        </p:nvSpPr>
        <p:spPr>
          <a:xfrm>
            <a:off x="1142714" y="4324275"/>
            <a:ext cx="6324590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病毒和威胁防护设置 → 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添加排除项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→ 把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练习项目文件夹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加入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9" name="el-1788456799237-23"/>
          <p:cNvSpPr txBox="1"/>
          <p:nvPr/>
        </p:nvSpPr>
        <p:spPr>
          <a:xfrm>
            <a:off x="666583" y="4824212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3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0" name="el-1788456799237-20"/>
          <p:cNvSpPr txBox="1"/>
          <p:nvPr/>
        </p:nvSpPr>
        <p:spPr>
          <a:xfrm>
            <a:off x="1142714" y="4833735"/>
            <a:ext cx="4626898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第三方杀毒（火绒 / 360）同理：加</a:t>
            </a:r>
            <a:r>
              <a:rPr sz="172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信任区</a:t>
            </a:r>
            <a:endParaRPr sz="172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1" name="el-1788456799233-15"/>
          <p:cNvSpPr txBox="1"/>
          <p:nvPr/>
        </p:nvSpPr>
        <p:spPr>
          <a:xfrm>
            <a:off x="415186" y="5681248"/>
            <a:ext cx="6742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490" b="1">
                <a:solidFill>
                  <a:srgbClr val="FFFFFF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!</a:t>
            </a:r>
            <a:endParaRPr sz="1490" b="1">
              <a:solidFill>
                <a:srgbClr val="FFFFFF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2" name="el-1788456799232-12"/>
          <p:cNvSpPr txBox="1"/>
          <p:nvPr/>
        </p:nvSpPr>
        <p:spPr>
          <a:xfrm>
            <a:off x="1066533" y="5647919"/>
            <a:ext cx="6013623" cy="3246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只排除</a:t>
            </a:r>
            <a:r>
              <a:rPr sz="1640" b="1">
                <a:solidFill>
                  <a:srgbClr val="B44B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自己的练习目录</a:t>
            </a: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；</a:t>
            </a:r>
            <a:r>
              <a:rPr sz="1640" b="1">
                <a:solidFill>
                  <a:srgbClr val="B44B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不要</a:t>
            </a: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关闭实时防护，</a:t>
            </a:r>
            <a:r>
              <a:rPr sz="1640" b="1">
                <a:solidFill>
                  <a:srgbClr val="B44B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不要</a:t>
            </a: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排除整个磁盘</a:t>
            </a:r>
            <a:endParaRPr sz="164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3" name="el-1788456799229-5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4" name="el-1788456799229-6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16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9273-18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8456799272-17"/>
          <p:cNvGraphicFramePr/>
          <p:nvPr/>
        </p:nvGraphicFramePr>
        <p:xfrm>
          <a:off x="609448" y="1806137"/>
          <a:ext cx="10970057" cy="4350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09047"/>
                <a:gridCol w="2761559"/>
                <a:gridCol w="4399450"/>
              </a:tblGrid>
              <a:tr h="67610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 b="1">
                          <a:solidFill>
                            <a:srgbClr val="FFFFFF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症状</a:t>
                      </a:r>
                      <a:endParaRPr sz="1790" b="1">
                        <a:solidFill>
                          <a:srgbClr val="FFFFFF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71407" marB="171407" anchor="ctr">
                    <a:solidFill>
                      <a:srgbClr val="1B3A6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 b="1">
                          <a:solidFill>
                            <a:srgbClr val="FFFFFF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原因</a:t>
                      </a:r>
                      <a:endParaRPr sz="1790" b="1">
                        <a:solidFill>
                          <a:srgbClr val="FFFFFF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71407" marB="171407" anchor="ctr">
                    <a:solidFill>
                      <a:srgbClr val="1B3A6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790" b="1">
                          <a:solidFill>
                            <a:srgbClr val="FFFFFF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解法</a:t>
                      </a:r>
                      <a:endParaRPr sz="1790" b="1">
                        <a:solidFill>
                          <a:srgbClr val="FFFFFF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71407" marB="171407" anchor="ctr">
                    <a:solidFill>
                      <a:srgbClr val="1B3A6B"/>
                    </a:solidFill>
                  </a:tcPr>
                </a:tc>
              </a:tr>
              <a:tr h="74216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90" b="1">
                          <a:solidFill>
                            <a:srgbClr val="1B3A6B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#include ＜stdio.h＞</a:t>
                      </a:r>
                      <a:r>
                        <a:rPr sz="1690" b="1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 报红</a:t>
                      </a:r>
                      <a:endParaRPr sz="1690" b="1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VSCode 没找到编译器</a:t>
                      </a:r>
                      <a:endParaRPr sz="1690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右下角 Win32 → 编辑配置 → 选 </a:t>
                      </a:r>
                      <a:r>
                        <a:rPr sz="1390">
                          <a:solidFill>
                            <a:srgbClr val="1B3A6B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gcc.exe</a:t>
                      </a:r>
                      <a:endParaRPr sz="1390">
                        <a:solidFill>
                          <a:srgbClr val="1B3A6B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</a:tr>
              <a:tr h="110343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90" b="1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运行后中文乱码</a:t>
                      </a:r>
                      <a:endParaRPr sz="1690" b="1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终端 GBK，文件 UTF-8</a:t>
                      </a:r>
                      <a:endParaRPr sz="1690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2620"/>
                        </a:lnSpc>
                      </a:pPr>
                      <a:r>
                        <a:rPr sz="16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终端先执行 </a:t>
                      </a:r>
                      <a:r>
                        <a:rPr sz="1390">
                          <a:solidFill>
                            <a:srgbClr val="1B3A6B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chcp 65001</a:t>
                      </a:r>
                      <a:r>
                        <a:rPr sz="16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，或编译加 </a:t>
                      </a:r>
                      <a:r>
                        <a:rPr sz="1390">
                          <a:solidFill>
                            <a:srgbClr val="1B3A6B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-fexec-charset=GBK</a:t>
                      </a:r>
                      <a:endParaRPr sz="1390">
                        <a:solidFill>
                          <a:srgbClr val="1B3A6B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</a:tr>
              <a:tr h="1086322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90" b="1">
                          <a:solidFill>
                            <a:srgbClr val="1B3A6B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gcc</a:t>
                      </a:r>
                      <a:r>
                        <a:rPr sz="1690" b="1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 不是内部或外部命令</a:t>
                      </a:r>
                      <a:endParaRPr sz="1690" b="1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PATH 没配好</a:t>
                      </a:r>
                      <a:endParaRPr sz="1690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2620"/>
                        </a:lnSpc>
                      </a:pPr>
                      <a:r>
                        <a:rPr sz="16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环境变量手动加 TDM-GCC 的 </a:t>
                      </a:r>
                      <a:r>
                        <a:rPr sz="1390">
                          <a:solidFill>
                            <a:srgbClr val="1B3A6B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bin</a:t>
                      </a:r>
                      <a:r>
                        <a:rPr sz="16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 目录，重启 VSCode</a:t>
                      </a:r>
                      <a:endParaRPr sz="1690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>
                    <a:lnB w="9523">
                      <a:solidFill>
                        <a:srgbClr val="C9D4E2"/>
                      </a:solidFill>
                    </a:lnB>
                  </a:tcPr>
                </a:tc>
              </a:tr>
              <a:tr h="74216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90" b="1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gcc 和 g++ 选哪个</a:t>
                      </a:r>
                      <a:endParaRPr sz="1690" b="1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C 与 C++ 编译器之别</a:t>
                      </a:r>
                      <a:endParaRPr sz="1690">
                        <a:solidFill>
                          <a:srgbClr val="1F2733"/>
                        </a:solidFill>
                        <a:latin typeface="思源黑体JetBrains" panose="02000509000000000000" charset="-122"/>
                        <a:ea typeface="思源黑体JetBrains" panose="02000509000000000000" charset="-122"/>
                        <a:cs typeface="思源黑体JetBrains" panose="02000509000000000000" charset="-122"/>
                      </a:endParaRPr>
                    </a:p>
                  </a:txBody>
                  <a:tcPr marL="228543" marR="228543" marT="190452" marB="190452" anchor="t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90">
                          <a:solidFill>
                            <a:srgbClr val="1F2733"/>
                          </a:solidFill>
                          <a:latin typeface="思源黑体JetBrains" panose="02000509000000000000" charset="-122"/>
                          <a:ea typeface="思源黑体JetBrains" panose="02000509000000000000" charset="-122"/>
                          <a:cs typeface="思源黑体JetBrains" panose="02000509000000000000" charset="-122"/>
                        </a:rPr>
                        <a:t>本课程选 </a:t>
                      </a:r>
                      <a:r>
                        <a:rPr sz="1390">
                          <a:solidFill>
                            <a:srgbClr val="1B3A6B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gcc</a:t>
                      </a:r>
                      <a:endParaRPr sz="1390">
                        <a:solidFill>
                          <a:srgbClr val="1B3A6B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228543" marR="228543" marT="190452" marB="190452" anchor="t"/>
                </a:tc>
              </a:tr>
            </a:tbl>
          </a:graphicData>
        </a:graphic>
      </p:graphicFrame>
      <p:sp>
        <p:nvSpPr>
          <p:cNvPr id="7" name="el-1788456799273-19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8" name="el-1788456799274-20"/>
          <p:cNvSpPr txBox="1"/>
          <p:nvPr/>
        </p:nvSpPr>
        <p:spPr>
          <a:xfrm>
            <a:off x="609448" y="633219"/>
            <a:ext cx="11236690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环境问题速查表：先对表，再求助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9" name="el-1788456799274-21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0" name="el-1788456799274-22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</a:t>
            </a:r>
            <a:r>
              <a:rPr lang="en-US" altLang="en-US"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7</a:t>
            </a: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8456799405-2"/>
          <p:cNvCxnSpPr/>
          <p:nvPr/>
        </p:nvCxnSpPr>
        <p:spPr>
          <a:xfrm>
            <a:off x="609448" y="1239690"/>
            <a:ext cx="723719" cy="914"/>
          </a:xfrm>
          <a:prstGeom prst="line">
            <a:avLst/>
          </a:prstGeom>
          <a:ln w="47613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8456799407-9"/>
          <p:cNvCxnSpPr/>
          <p:nvPr/>
        </p:nvCxnSpPr>
        <p:spPr>
          <a:xfrm>
            <a:off x="6042399" y="2494593"/>
            <a:ext cx="914" cy="2973438"/>
          </a:xfrm>
          <a:prstGeom prst="line">
            <a:avLst/>
          </a:prstGeom>
          <a:ln w="9523" cap="flat">
            <a:solidFill>
              <a:srgbClr val="C9D4E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8456799406-3"/>
          <p:cNvSpPr txBox="1"/>
          <p:nvPr/>
        </p:nvSpPr>
        <p:spPr>
          <a:xfrm>
            <a:off x="609448" y="261837"/>
            <a:ext cx="1128620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 spc="37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实践补充 · 环境搭建</a:t>
            </a:r>
            <a:endParaRPr sz="1490" b="1" spc="37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8" name="el-1788456799406-4"/>
          <p:cNvSpPr txBox="1"/>
          <p:nvPr/>
        </p:nvSpPr>
        <p:spPr>
          <a:xfrm>
            <a:off x="609448" y="633219"/>
            <a:ext cx="11236690" cy="487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B3A6B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验收清单：逐项打勾，你就是自己的环境管理员</a:t>
            </a:r>
            <a:endParaRPr sz="2990" b="1">
              <a:solidFill>
                <a:srgbClr val="1B3A6B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9" name="el-1788456799408-10"/>
          <p:cNvSpPr txBox="1"/>
          <p:nvPr/>
        </p:nvSpPr>
        <p:spPr>
          <a:xfrm>
            <a:off x="609448" y="2502925"/>
            <a:ext cx="4965391" cy="3047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验收清单</a:t>
            </a:r>
            <a:endParaRPr sz="1640" b="1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0" name="el-1788456799411-12"/>
          <p:cNvSpPr txBox="1"/>
          <p:nvPr/>
        </p:nvSpPr>
        <p:spPr>
          <a:xfrm>
            <a:off x="990352" y="3036192"/>
            <a:ext cx="3688188" cy="352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命令行 </a:t>
            </a: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gcc -v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能输出版本信息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1" name="el-1788456799414-17"/>
          <p:cNvSpPr txBox="1"/>
          <p:nvPr/>
        </p:nvSpPr>
        <p:spPr>
          <a:xfrm>
            <a:off x="990352" y="3617072"/>
            <a:ext cx="3547616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VSCode 已装 C/C++ 扩展</a:t>
            </a:r>
            <a:endParaRPr sz="172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2" name="el-1788456799412-13"/>
          <p:cNvSpPr txBox="1"/>
          <p:nvPr/>
        </p:nvSpPr>
        <p:spPr>
          <a:xfrm>
            <a:off x="990352" y="4174145"/>
            <a:ext cx="4771016" cy="352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hello.c</a:t>
            </a: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成功输出 </a:t>
            </a: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Hello World!</a:t>
            </a:r>
            <a:endParaRPr sz="1490">
              <a:solidFill>
                <a:srgbClr val="1B3A6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el-1788456799413-14"/>
          <p:cNvSpPr txBox="1"/>
          <p:nvPr/>
        </p:nvSpPr>
        <p:spPr>
          <a:xfrm>
            <a:off x="990352" y="4755025"/>
            <a:ext cx="4437838" cy="7046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50000"/>
              </a:lnSpc>
            </a:pPr>
            <a:r>
              <a:rPr sz="172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用命令行手动完成过一次 </a:t>
            </a:r>
            <a:r>
              <a:rPr sz="149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gcc hello.c -o hello.exe</a:t>
            </a:r>
            <a:endParaRPr sz="1490">
              <a:solidFill>
                <a:srgbClr val="1B3A6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el-1788456799408-11"/>
          <p:cNvSpPr txBox="1"/>
          <p:nvPr/>
        </p:nvSpPr>
        <p:spPr>
          <a:xfrm>
            <a:off x="6504246" y="2494593"/>
            <a:ext cx="5221758" cy="3047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课后任务</a:t>
            </a:r>
            <a:endParaRPr sz="1640" b="1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5" name="el-1788456799414-18"/>
          <p:cNvSpPr txBox="1"/>
          <p:nvPr/>
        </p:nvSpPr>
        <p:spPr>
          <a:xfrm>
            <a:off x="6504246" y="3008814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6" name="el-1788456799413-15"/>
          <p:cNvSpPr txBox="1"/>
          <p:nvPr/>
        </p:nvSpPr>
        <p:spPr>
          <a:xfrm>
            <a:off x="6980377" y="3018337"/>
            <a:ext cx="4598978" cy="6811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55000"/>
              </a:lnSpc>
            </a:pP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按清单完成环境搭建，截图 </a:t>
            </a:r>
            <a:r>
              <a:rPr sz="142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gcc -v</a:t>
            </a: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与 Hello World 输出，提交到作业平台</a:t>
            </a:r>
            <a:endParaRPr sz="164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7" name="el-1788456799415-19"/>
          <p:cNvSpPr txBox="1"/>
          <p:nvPr/>
        </p:nvSpPr>
        <p:spPr>
          <a:xfrm>
            <a:off x="6504246" y="3909000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2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8" name="el-1788456799415-20"/>
          <p:cNvSpPr txBox="1"/>
          <p:nvPr/>
        </p:nvSpPr>
        <p:spPr>
          <a:xfrm>
            <a:off x="6980377" y="3918522"/>
            <a:ext cx="4598978" cy="6493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540"/>
              </a:lnSpc>
            </a:pP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把第01讲课堂练习的改错程序在 VSCode 里再跑一遍，对比 Dev-C++ 的体验</a:t>
            </a:r>
            <a:endParaRPr sz="164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19" name="el-1788456799415-21"/>
          <p:cNvSpPr txBox="1"/>
          <p:nvPr/>
        </p:nvSpPr>
        <p:spPr>
          <a:xfrm>
            <a:off x="6504246" y="4777343"/>
            <a:ext cx="556883" cy="333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D98E3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3</a:t>
            </a:r>
            <a:endParaRPr sz="1790" b="1">
              <a:solidFill>
                <a:srgbClr val="D98E3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0" name="el-1788456799414-16"/>
          <p:cNvSpPr txBox="1"/>
          <p:nvPr/>
        </p:nvSpPr>
        <p:spPr>
          <a:xfrm>
            <a:off x="6980377" y="4786866"/>
            <a:ext cx="4598978" cy="6811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55000"/>
              </a:lnSpc>
            </a:pP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思考：</a:t>
            </a:r>
            <a:r>
              <a:rPr sz="142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.vscode</a:t>
            </a: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里的 </a:t>
            </a:r>
            <a:r>
              <a:rPr sz="1420">
                <a:solidFill>
                  <a:srgbClr val="1B3A6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tasks.json</a:t>
            </a:r>
            <a:r>
              <a:rPr sz="1640">
                <a:solidFill>
                  <a:srgbClr val="1F2733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 对应流水线的哪一步？</a:t>
            </a:r>
            <a:endParaRPr sz="1640">
              <a:solidFill>
                <a:srgbClr val="1F2733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1" name="el-1788456799406-5"/>
          <p:cNvSpPr txBox="1"/>
          <p:nvPr/>
        </p:nvSpPr>
        <p:spPr>
          <a:xfrm>
            <a:off x="609448" y="6533374"/>
            <a:ext cx="1826861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C语言程序设计（甲）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2" name="el-1788456799406-6"/>
          <p:cNvSpPr txBox="1"/>
          <p:nvPr/>
        </p:nvSpPr>
        <p:spPr>
          <a:xfrm>
            <a:off x="11054868" y="6533374"/>
            <a:ext cx="102857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5A6472"/>
                </a:solidFill>
                <a:latin typeface="思源黑体JetBrains" panose="02000509000000000000" charset="-122"/>
                <a:ea typeface="思源黑体JetBrains" panose="02000509000000000000" charset="-122"/>
                <a:cs typeface="思源黑体JetBrains" panose="02000509000000000000" charset="-122"/>
              </a:rPr>
              <a:t>18 / 18</a:t>
            </a:r>
            <a:endParaRPr sz="1340">
              <a:solidFill>
                <a:srgbClr val="5A6472"/>
              </a:solidFill>
              <a:latin typeface="思源黑体JetBrains" panose="02000509000000000000" charset="-122"/>
              <a:ea typeface="思源黑体JetBrains" panose="02000509000000000000" charset="-122"/>
              <a:cs typeface="思源黑体JetBrains" panose="02000509000000000000" charset="-122"/>
            </a:endParaRPr>
          </a:p>
        </p:txBody>
      </p:sp>
      <p:sp>
        <p:nvSpPr>
          <p:cNvPr id="23" name="el-1788456799417-22"/>
          <p:cNvSpPr/>
          <p:nvPr/>
        </p:nvSpPr>
        <p:spPr>
          <a:xfrm>
            <a:off x="609448" y="3112373"/>
            <a:ext cx="209498" cy="20949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45" algn="in">
            <a:solidFill>
              <a:srgbClr val="D98E32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4" name="el-1788456799419-26"/>
          <p:cNvCxnSpPr/>
          <p:nvPr/>
        </p:nvCxnSpPr>
        <p:spPr>
          <a:xfrm flipH="1">
            <a:off x="678890" y="3163490"/>
            <a:ext cx="73452" cy="87537"/>
          </a:xfrm>
          <a:prstGeom prst="line">
            <a:avLst/>
          </a:prstGeom>
          <a:ln w="28568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-1788456799419-27"/>
          <p:cNvCxnSpPr/>
          <p:nvPr/>
        </p:nvCxnSpPr>
        <p:spPr>
          <a:xfrm>
            <a:off x="655245" y="3212540"/>
            <a:ext cx="43768" cy="36726"/>
          </a:xfrm>
          <a:prstGeom prst="line">
            <a:avLst/>
          </a:prstGeom>
          <a:ln w="28568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-1788456799417-23"/>
          <p:cNvSpPr/>
          <p:nvPr/>
        </p:nvSpPr>
        <p:spPr>
          <a:xfrm>
            <a:off x="609448" y="3693253"/>
            <a:ext cx="209498" cy="20949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45" algn="in">
            <a:solidFill>
              <a:srgbClr val="D98E32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7" name="el-1788456799419-28"/>
          <p:cNvCxnSpPr/>
          <p:nvPr/>
        </p:nvCxnSpPr>
        <p:spPr>
          <a:xfrm flipH="1">
            <a:off x="678890" y="3744369"/>
            <a:ext cx="73452" cy="87537"/>
          </a:xfrm>
          <a:prstGeom prst="line">
            <a:avLst/>
          </a:prstGeom>
          <a:ln w="28568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-1788456799419-29"/>
          <p:cNvCxnSpPr/>
          <p:nvPr/>
        </p:nvCxnSpPr>
        <p:spPr>
          <a:xfrm>
            <a:off x="655245" y="3793420"/>
            <a:ext cx="43768" cy="36726"/>
          </a:xfrm>
          <a:prstGeom prst="line">
            <a:avLst/>
          </a:prstGeom>
          <a:ln w="28568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-1788456799417-24"/>
          <p:cNvSpPr/>
          <p:nvPr/>
        </p:nvSpPr>
        <p:spPr>
          <a:xfrm>
            <a:off x="609448" y="4250326"/>
            <a:ext cx="209498" cy="20949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45" algn="in">
            <a:solidFill>
              <a:srgbClr val="D98E32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30" name="el-1788456799420-30"/>
          <p:cNvCxnSpPr/>
          <p:nvPr/>
        </p:nvCxnSpPr>
        <p:spPr>
          <a:xfrm flipH="1">
            <a:off x="678890" y="4301443"/>
            <a:ext cx="73452" cy="87537"/>
          </a:xfrm>
          <a:prstGeom prst="line">
            <a:avLst/>
          </a:prstGeom>
          <a:ln w="28568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-1788456799420-31"/>
          <p:cNvCxnSpPr/>
          <p:nvPr/>
        </p:nvCxnSpPr>
        <p:spPr>
          <a:xfrm>
            <a:off x="655245" y="4350493"/>
            <a:ext cx="43768" cy="36726"/>
          </a:xfrm>
          <a:prstGeom prst="line">
            <a:avLst/>
          </a:prstGeom>
          <a:ln w="28568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-1788456799417-25"/>
          <p:cNvSpPr/>
          <p:nvPr/>
        </p:nvSpPr>
        <p:spPr>
          <a:xfrm>
            <a:off x="609448" y="4831206"/>
            <a:ext cx="209498" cy="20949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45" algn="in">
            <a:solidFill>
              <a:srgbClr val="D98E32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33" name="el-1788456799420-32"/>
          <p:cNvCxnSpPr/>
          <p:nvPr/>
        </p:nvCxnSpPr>
        <p:spPr>
          <a:xfrm flipH="1">
            <a:off x="678890" y="4882322"/>
            <a:ext cx="73452" cy="87537"/>
          </a:xfrm>
          <a:prstGeom prst="line">
            <a:avLst/>
          </a:prstGeom>
          <a:ln w="28568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-1788456799420-33"/>
          <p:cNvCxnSpPr/>
          <p:nvPr/>
        </p:nvCxnSpPr>
        <p:spPr>
          <a:xfrm>
            <a:off x="655245" y="4931372"/>
            <a:ext cx="43768" cy="36726"/>
          </a:xfrm>
          <a:prstGeom prst="line">
            <a:avLst/>
          </a:prstGeom>
          <a:ln w="28568" cap="flat">
            <a:solidFill>
              <a:srgbClr val="D98E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2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3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4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5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6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7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8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9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10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11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12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13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14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15.xml><?xml version="1.0" encoding="utf-8"?>
<p:tagLst xmlns:p="http://schemas.openxmlformats.org/presentationml/2006/main">
  <p:tag name="KSO_WM_DIAGRAM_VIRTUALLY_FRAME" val="{&quot;height&quot;:255.68606299212598,&quot;left&quot;:47.98803149606299,&quot;top&quot;:185.646062992126,&quot;width&quot;:863.7840157480316}"/>
</p:tagLst>
</file>

<file path=ppt/tags/tag16.xml><?xml version="1.0" encoding="utf-8"?>
<p:tagLst xmlns:p="http://schemas.openxmlformats.org/presentationml/2006/main">
  <p:tag name="KSO_WM_DIAGRAM_VIRTUALLY_FRAME" val="{&quot;height&quot;:275.34480314960626,&quot;left&quot;:47.98803149606299,&quot;top&quot;:146.1051968503937,&quot;width&quot;:492.4608661417322}"/>
</p:tagLst>
</file>

<file path=ppt/tags/tag17.xml><?xml version="1.0" encoding="utf-8"?>
<p:tagLst xmlns:p="http://schemas.openxmlformats.org/presentationml/2006/main">
  <p:tag name="KSO_WM_DIAGRAM_VIRTUALLY_FRAME" val="{&quot;height&quot;:275.34480314960626,&quot;left&quot;:47.98803149606299,&quot;top&quot;:146.1051968503937,&quot;width&quot;:492.4608661417322}"/>
</p:tagLst>
</file>

<file path=ppt/tags/tag18.xml><?xml version="1.0" encoding="utf-8"?>
<p:tagLst xmlns:p="http://schemas.openxmlformats.org/presentationml/2006/main">
  <p:tag name="KSO_WM_DIAGRAM_VIRTUALLY_FRAME" val="{&quot;height&quot;:275.34480314960626,&quot;left&quot;:47.98803149606299,&quot;top&quot;:146.1051968503937,&quot;width&quot;:492.4608661417322}"/>
</p:tagLst>
</file>

<file path=ppt/tags/tag19.xml><?xml version="1.0" encoding="utf-8"?>
<p:tagLst xmlns:p="http://schemas.openxmlformats.org/presentationml/2006/main">
  <p:tag name="KSO_WM_DIAGRAM_VIRTUALLY_FRAME" val="{&quot;height&quot;:275.34480314960626,&quot;left&quot;:47.98803149606299,&quot;top&quot;:146.1051968503937,&quot;width&quot;:492.4608661417322}"/>
</p:tagLst>
</file>

<file path=ppt/tags/tag20.xml><?xml version="1.0" encoding="utf-8"?>
<p:tagLst xmlns:p="http://schemas.openxmlformats.org/presentationml/2006/main">
  <p:tag name="KSO_WM_DIAGRAM_VIRTUALLY_FRAME" val="{&quot;height&quot;:275.34480314960626,&quot;left&quot;:47.98803149606299,&quot;top&quot;:146.1051968503937,&quot;width&quot;:492.4608661417322}"/>
</p:tagLst>
</file>

<file path=ppt/tags/tag21.xml><?xml version="1.0" encoding="utf-8"?>
<p:tagLst xmlns:p="http://schemas.openxmlformats.org/presentationml/2006/main">
  <p:tag name="KSO_WM_DIAGRAM_VIRTUALLY_FRAME" val="{&quot;height&quot;:275.34480314960626,&quot;left&quot;:47.98803149606299,&quot;top&quot;:146.1051968503937,&quot;width&quot;:492.4608661417322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3885</Words>
  <Application>WPS 演示</Application>
  <PresentationFormat/>
  <Paragraphs>491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思源黑体JetBrains</vt:lpstr>
      <vt:lpstr>黑体</vt:lpstr>
      <vt:lpstr>Consolas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若海成冰</cp:lastModifiedBy>
  <cp:revision>4</cp:revision>
  <dcterms:created xsi:type="dcterms:W3CDTF">2026-09-04T02:13:00Z</dcterms:created>
  <dcterms:modified xsi:type="dcterms:W3CDTF">2026-09-21T02:31:49Z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75E974D8F0BB4DB29DCF156CB7984368_13</vt:lpwstr>
  </property>
</Properties>
</file>